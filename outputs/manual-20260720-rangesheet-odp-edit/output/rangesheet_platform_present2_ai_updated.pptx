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0" r:id="rId6"/>
    <p:sldId id="269" r:id="rId7"/>
    <p:sldId id="259" r:id="rId8"/>
    <p:sldId id="262" r:id="rId9"/>
    <p:sldId id="272" r:id="rId10"/>
    <p:sldId id="263" r:id="rId11"/>
    <p:sldId id="264" r:id="rId12"/>
    <p:sldId id="265" r:id="rId13"/>
    <p:sldId id="266" r:id="rId14"/>
    <p:sldId id="273" r:id="rId15"/>
    <p:sldId id="274" r:id="rId16"/>
    <p:sldId id="275" r:id="rId17"/>
    <p:sldId id="276" r:id="rId18"/>
    <p:sldId id="267" r:id="rId19"/>
    <p:sldId id="268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A8F1893-2D41-4EF9-AF51-2DAE92C223A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4295778"/>
            <a:ext cx="9144000" cy="1000125"/>
          </a:xfrm>
        </p:spPr>
        <p:txBody>
          <a:bodyPr/>
          <a:lstStyle>
            <a:lvl1pPr marL="0" indent="0">
              <a:buNone/>
              <a:defRPr sz="2400">
                <a:latin typeface="Prompt" pitchFamily="2"/>
                <a:cs typeface="Prompt" pitchFamily="2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C5AD636-E86F-46B4-BD35-B4F1BB824C9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E0A03A8-B247-4911-81EB-AE2DC576B31E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9A81CD4-1E19-4DB8-9CA3-49F19037C8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D7202C6-6F12-4281-957B-4E132645AC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F8436B-C270-4D21-8A20-348E19B8F4E5}" type="slidenum">
              <a:t>‹#›</a:t>
            </a:fld>
            <a:endParaRPr lang="en-US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4FFF5E2-579D-4497-9A51-D412F6F61FD8}"/>
              </a:ext>
            </a:extLst>
          </p:cNvPr>
          <p:cNvSpPr txBox="1"/>
          <p:nvPr/>
        </p:nvSpPr>
        <p:spPr>
          <a:xfrm>
            <a:off x="1524003" y="3581403"/>
            <a:ext cx="7286625" cy="461662"/>
          </a:xfrm>
          <a:prstGeom prst="rect">
            <a:avLst/>
          </a:prstGeom>
          <a:solidFill>
            <a:srgbClr val="0072CB"/>
          </a:solidFill>
          <a:ln w="9528" cap="flat">
            <a:solidFill>
              <a:srgbClr val="0072CB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0" u="none" strike="noStrike" kern="1200" cap="none" spc="0" baseline="0">
              <a:solidFill>
                <a:srgbClr val="FFFFFF"/>
              </a:solidFill>
              <a:uFillTx/>
              <a:latin typeface="DB Adman X Bold" pitchFamily="2"/>
              <a:cs typeface="DB Adman X Bold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447304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FEF16C-DA20-4C6C-9470-FD640C22324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DCE551-FD7C-40B0-8A1C-1A51C35A6636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7311801-F745-487E-9724-8E73E4AC7CE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34D1B7-0E9B-47D3-BC72-FF56D3564D7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4D25B5-E7C2-4CD6-BE66-5C22E5BFB6FB}" type="slidenum">
              <a:t>‹#›</a:t>
            </a:fld>
            <a:endParaRPr lang="en-US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2A857ED1-7E0B-44C7-8DB6-BC84FFAA5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6959498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851C710-1550-47E8-BBD9-BCCEA61C97A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C9D3D4-2CEB-4BC5-89B2-C1B9F3776358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9EB5BD5-8D31-4A15-AA60-2DF31DB0C5F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99A92A-7B5F-4431-929D-D0DB5B94B9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A6A761-FAF3-4D83-846D-C308BDD02469}" type="slidenum">
              <a:t>‹#›</a:t>
            </a:fld>
            <a:endParaRPr lang="en-US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10A3056E-FB3D-4369-AA55-4F4DBD71E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4183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17A01F8-9E3B-4CE6-BE5E-51DD9FE69B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8C2CE771-A483-4D71-A682-FCDB8DA39ED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A79DC1-E4BF-412E-B1F2-17D56FA463F2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018CA96A-3FB2-4259-9159-EAC39EFB1D5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935BA57-F2D7-4BC6-924C-B0A84AE501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1496EA-BBCA-47BB-A33D-7F5B7EC8A0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2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51026D7-2E17-4D68-B07D-1A4704013E1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633D602-B12E-4D30-AD3F-0524D0143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2DB0E1F-7DAB-4EBC-A97F-51D76E136B83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981B76D1-F7A1-4EB5-AC4E-3960D0C266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64CF45-D425-47BD-A080-D151869A7B02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A8D90A6-52FA-4D92-9F2C-8CA27C92032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5F4BE7B5-A1F1-4400-9032-D0A4058D8B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0CB40D-832A-473F-9AD4-2227699945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6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3E89FAC-460A-4EAD-8616-62DBABE9B8A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0E5659B-A8DD-4040-AD11-97EA5B1F97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AF3FEF-38AE-4E95-BEF0-6CB8710D023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FEA8055-A7E9-4868-ACF3-1CD0E05E8F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B865904-92F5-4D5A-8724-DA03C5BE329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146D50B-18DD-4937-9D49-21E8DA9F44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08791E3-415B-4692-B4D4-9AAE23766A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C05AF7-9048-43FE-B8BD-3244FEC203A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570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291203-537F-4386-941E-A072AFC3135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2406949-07F9-4CD2-9ECB-9609857AF4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852B81-F50D-42CC-856D-39B305434126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336C5C89-BCB2-47B9-9EEB-E0DFB1FDB33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E45664E-E06D-412B-A3A3-1C7D3A6C3D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AFC218-1ABF-47F6-9BD7-C6F734F17E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39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2545793-BF47-48F4-827C-1F408A530AC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76D563B8-DE70-4794-9844-BC78AD11DE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511A29-108C-4333-8976-65686082067E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3CF07D4E-21F8-4478-A5E2-0BB3B8FEF49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BA6A9F4-F5C4-41F4-B64A-1F386D0C76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856BED-D366-4ED2-B1BE-0C20C7658C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30E7A5C-89BC-4A83-AD91-5A55E039050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F5FA29-11C8-4117-BEEF-3EA2C56DC7A1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1F90A86-C0DF-4901-A337-C0C0FA339D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483514C-1C1C-4348-97C6-3A8CA0E95F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DDF266-44EE-480E-BD96-CEF53BB1F4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61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C9ED5E5-BDAB-49A3-85BA-96F07BF508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5F5C0E-2680-4834-A6DE-919A7D3584E8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5D551A-AACD-4D2A-A1D4-F3AB6687136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DF4DA38-62FA-4B6D-A9CB-D7FA66CC6B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B712A1-6CD5-4904-8CAD-BEE5736B7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37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E10EF0DB-B9C0-46D9-BD90-62FF8F9481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F802D6-99B7-484D-B533-2B416B708034}" type="slidenum">
              <a:t>‹#›</a:t>
            </a:fld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AC6DF44-AC87-4C3D-8125-F197A8CCD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7314676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93591-533C-496C-81F5-B62248D7E1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A6C5-385B-4725-96C1-87ED16B96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 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30E4D-B4F2-4764-8922-DE9D4CB10A8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E70A12F-9E21-4079-9366-98D680A3D02F}" type="datetime1">
              <a:rPr lang="en-US"/>
              <a:pPr lvl="0"/>
              <a:t>20/07/26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55D05-DB6E-40EB-810C-12D4A068AA5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C04C-8594-4BD9-9C65-DBEFDDE947A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9DC323E-A5F6-4278-8F3C-98B57D1C45F4}" type="slidenum">
              <a:t>‹#›</a:t>
            </a:fld>
            <a:endParaRPr lang="en-US"/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2A00CC49-A531-4C36-8822-BA117F4340A9}"/>
              </a:ext>
            </a:extLst>
          </p:cNvPr>
          <p:cNvGrpSpPr/>
          <p:nvPr/>
        </p:nvGrpSpPr>
        <p:grpSpPr>
          <a:xfrm>
            <a:off x="10463378" y="99212"/>
            <a:ext cx="1500027" cy="6371621"/>
            <a:chOff x="10463378" y="99212"/>
            <a:chExt cx="1500027" cy="6371621"/>
          </a:xfrm>
        </p:grpSpPr>
        <p:pic>
          <p:nvPicPr>
            <p:cNvPr id="8" name="Picture 9">
              <a:extLst>
                <a:ext uri="{FF2B5EF4-FFF2-40B4-BE49-F238E27FC236}">
                  <a16:creationId xmlns:a16="http://schemas.microsoft.com/office/drawing/2014/main" id="{22B90787-3811-4DEE-9FBD-939B109A3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301" t="25126" r="10403" b="30769"/>
            <a:stretch>
              <a:fillRect/>
            </a:stretch>
          </p:blipFill>
          <p:spPr>
            <a:xfrm>
              <a:off x="10585944" y="6223388"/>
              <a:ext cx="1377461" cy="247445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9" name="Picture 10">
              <a:extLst>
                <a:ext uri="{FF2B5EF4-FFF2-40B4-BE49-F238E27FC236}">
                  <a16:creationId xmlns:a16="http://schemas.microsoft.com/office/drawing/2014/main" id="{E471CFBC-8C2B-41F3-893B-C5668421E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6902" t="21346" r="62396" b="17048"/>
            <a:stretch>
              <a:fillRect/>
            </a:stretch>
          </p:blipFill>
          <p:spPr>
            <a:xfrm>
              <a:off x="10463378" y="99212"/>
              <a:ext cx="1500027" cy="603824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10" name="Picture 14">
            <a:extLst>
              <a:ext uri="{FF2B5EF4-FFF2-40B4-BE49-F238E27FC236}">
                <a16:creationId xmlns:a16="http://schemas.microsoft.com/office/drawing/2014/main" id="{5D860D02-D447-4EA3-83FD-7D19F09993F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98202"/>
          <a:stretch>
            <a:fillRect/>
          </a:stretch>
        </p:blipFill>
        <p:spPr>
          <a:xfrm>
            <a:off x="-10488" y="6739448"/>
            <a:ext cx="12202494" cy="129570"/>
          </a:xfrm>
          <a:prstGeom prst="rect">
            <a:avLst/>
          </a:prstGeom>
          <a:solidFill>
            <a:srgbClr val="FFFFFF"/>
          </a:solidFill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5400" b="1" i="0" u="none" strike="noStrike" kern="1200" cap="none" spc="0" baseline="0">
          <a:solidFill>
            <a:srgbClr val="FBB215"/>
          </a:solidFill>
          <a:uFillTx/>
          <a:latin typeface="Prompt" pitchFamily="2"/>
          <a:cs typeface="Prompt" pitchFamily="2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ts val="2798"/>
        <a:buBlip>
          <a:blip r:embed="rId17"/>
        </a:buBlip>
        <a:tabLst/>
        <a:defRPr lang="en-US" sz="2800" b="1" i="0" u="none" strike="noStrike" kern="1200" cap="none" spc="0" baseline="0">
          <a:solidFill>
            <a:srgbClr val="0072CB"/>
          </a:solidFill>
          <a:uFillTx/>
          <a:latin typeface="Prompt Medium" pitchFamily="2"/>
          <a:cs typeface="Prompt Medium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1" i="0" u="none" strike="noStrike" kern="1200" cap="none" spc="0" baseline="0">
          <a:solidFill>
            <a:srgbClr val="0072CB"/>
          </a:solidFill>
          <a:uFillTx/>
          <a:latin typeface="Prompt" pitchFamily="2"/>
          <a:cs typeface="Prompt" pitchFamily="2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1" i="0" u="none" strike="noStrike" kern="1200" cap="none" spc="0" baseline="0">
          <a:solidFill>
            <a:srgbClr val="0072CB"/>
          </a:solidFill>
          <a:uFillTx/>
          <a:latin typeface="Prompt" pitchFamily="2"/>
          <a:cs typeface="Prompt" pitchFamily="2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600" b="1" i="0" u="none" strike="noStrike" kern="1200" cap="none" spc="0" baseline="0">
          <a:solidFill>
            <a:srgbClr val="0072CB"/>
          </a:solidFill>
          <a:uFillTx/>
          <a:latin typeface="Prompt" pitchFamily="2"/>
          <a:cs typeface="Prompt" pitchFamily="2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600" b="1" i="0" u="none" strike="noStrike" kern="1200" cap="none" spc="0" baseline="0">
          <a:solidFill>
            <a:srgbClr val="0072CB"/>
          </a:solidFill>
          <a:uFillTx/>
          <a:latin typeface="Prompt" pitchFamily="2"/>
          <a:cs typeface="Prompt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75D2-DFEC-4D9E-AF01-95F30047F86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 sz="4800" spc="300">
                <a:latin typeface="Prompt"/>
                <a:cs typeface="Prompt"/>
              </a:rPr>
              <a:t>RANGE SHEET INTELLIGENCE</a:t>
            </a:r>
            <a:endParaRPr lang="en-TH" sz="4800" spc="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1DCF-9F03-4B2C-A5B1-B52B2A3E9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 sz="360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56E0-7724-4637-B394-52F11A3E06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482955"/>
            <a:ext cx="10515600" cy="11941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447671" lvl="0" indent="-447671"/>
            <a:r>
              <a:rPr lang="th-TH"/>
              <a:t>ระบบจัดการ </a:t>
            </a:r>
            <a:r>
              <a:rPr lang="en-US"/>
              <a:t>Rangesheet </a:t>
            </a:r>
            <a:r>
              <a:rPr lang="th-TH"/>
              <a:t>ด้วย </a:t>
            </a:r>
            <a:r>
              <a:rPr lang="en-US"/>
              <a:t>Pure Python + Streamlit + AI</a:t>
            </a:r>
          </a:p>
          <a:p>
            <a:pPr marL="447671" lvl="0" indent="-447671">
              <a:buSzPts val="1800"/>
            </a:pPr>
            <a:r>
              <a:rPr lang="th-TH" sz="1800" b="0"/>
              <a:t>พัฒนาด้วย </a:t>
            </a:r>
            <a:r>
              <a:rPr lang="en-US" sz="1800" b="0"/>
              <a:t>Python </a:t>
            </a:r>
            <a:r>
              <a:rPr lang="th-TH" sz="1800" b="0"/>
              <a:t>ล้วน บน </a:t>
            </a:r>
            <a:r>
              <a:rPr lang="en-US" sz="1800" b="0"/>
              <a:t>Streamlit </a:t>
            </a:r>
            <a:r>
              <a:rPr lang="th-TH" sz="1800" b="0"/>
              <a:t>ใช้ </a:t>
            </a:r>
            <a:r>
              <a:rPr lang="en-US" sz="1800" b="0"/>
              <a:t>Pandas </a:t>
            </a:r>
            <a:r>
              <a:rPr lang="th-TH" sz="1800" b="0"/>
              <a:t>ในการจัดการข้อมูล และเสริมด้วย </a:t>
            </a:r>
            <a:r>
              <a:rPr lang="en-US" sz="1800" b="0"/>
              <a:t>AI </a:t>
            </a:r>
            <a:r>
              <a:rPr lang="th-TH" sz="1800" b="0"/>
              <a:t>สำหรับวิเคราะห์กฎเกณฑ์อัตโนมัติ</a:t>
            </a:r>
          </a:p>
          <a:p>
            <a:pPr marL="0" lvl="0" indent="0">
              <a:buNone/>
            </a:pPr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A2941E4-9314-41DF-A621-A7D3DA146FEA}"/>
              </a:ext>
            </a:extLst>
          </p:cNvPr>
          <p:cNvSpPr txBox="1"/>
          <p:nvPr/>
        </p:nvSpPr>
        <p:spPr>
          <a:xfrm>
            <a:off x="3027944" y="3248341"/>
            <a:ext cx="6120060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12687FBE-BA15-489A-B347-10528404984F}"/>
              </a:ext>
            </a:extLst>
          </p:cNvPr>
          <p:cNvSpPr/>
          <p:nvPr/>
        </p:nvSpPr>
        <p:spPr>
          <a:xfrm>
            <a:off x="6096003" y="2652838"/>
            <a:ext cx="3566160" cy="17373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64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50BD6E99-7F3E-408C-ACFD-9423B6A6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035" y="2881438"/>
            <a:ext cx="457200" cy="4572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 17">
            <a:extLst>
              <a:ext uri="{FF2B5EF4-FFF2-40B4-BE49-F238E27FC236}">
                <a16:creationId xmlns:a16="http://schemas.microsoft.com/office/drawing/2014/main" id="{573E2A36-7B92-4382-A73D-8F26FD6BC6AE}"/>
              </a:ext>
            </a:extLst>
          </p:cNvPr>
          <p:cNvSpPr/>
          <p:nvPr/>
        </p:nvSpPr>
        <p:spPr>
          <a:xfrm>
            <a:off x="6352035" y="2881438"/>
            <a:ext cx="3054096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2E9E7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50</a:t>
            </a:r>
            <a:endParaRPr lang="en-US" sz="30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D53CB9DD-97FC-40D9-9585-A2A0E02D3F31}"/>
              </a:ext>
            </a:extLst>
          </p:cNvPr>
          <p:cNvSpPr/>
          <p:nvPr/>
        </p:nvSpPr>
        <p:spPr>
          <a:xfrm>
            <a:off x="6352035" y="3319884"/>
            <a:ext cx="3054096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USERS (จำนวนผู้ใช้สูงสุด)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5ABCFFCB-793B-47E1-B31A-312FEFA80AA7}"/>
              </a:ext>
            </a:extLst>
          </p:cNvPr>
          <p:cNvSpPr/>
          <p:nvPr/>
        </p:nvSpPr>
        <p:spPr>
          <a:xfrm>
            <a:off x="6352035" y="3656804"/>
            <a:ext cx="3054096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B728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รองรับผู้ใช้งานพร้อมกันสูงสุด 50 คน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3F34D1EE-D750-444E-87A8-58875D52E114}"/>
              </a:ext>
            </a:extLst>
          </p:cNvPr>
          <p:cNvSpPr/>
          <p:nvPr/>
        </p:nvSpPr>
        <p:spPr>
          <a:xfrm>
            <a:off x="2188945" y="2652838"/>
            <a:ext cx="3566160" cy="17373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64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B27E99D-4A11-4276-8855-14A10B9DF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977" y="2881438"/>
            <a:ext cx="457200" cy="4572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ext 13">
            <a:extLst>
              <a:ext uri="{FF2B5EF4-FFF2-40B4-BE49-F238E27FC236}">
                <a16:creationId xmlns:a16="http://schemas.microsoft.com/office/drawing/2014/main" id="{CD348AC5-B15E-4211-88B4-F57C312AC132}"/>
              </a:ext>
            </a:extLst>
          </p:cNvPr>
          <p:cNvSpPr/>
          <p:nvPr/>
        </p:nvSpPr>
        <p:spPr>
          <a:xfrm>
            <a:off x="2444977" y="2881438"/>
            <a:ext cx="3054096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2F3C9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3</a:t>
            </a:r>
            <a:endParaRPr lang="en-US" sz="30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6A44BAD0-6E2B-4907-B6BB-1896C02E5841}"/>
              </a:ext>
            </a:extLst>
          </p:cNvPr>
          <p:cNvSpPr/>
          <p:nvPr/>
        </p:nvSpPr>
        <p:spPr>
          <a:xfrm>
            <a:off x="2444977" y="3319884"/>
            <a:ext cx="3054096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ROLES (สิทธิ์การใช้งาน)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9E3448C2-ABE3-4E94-9991-E0DF98B60D89}"/>
              </a:ext>
            </a:extLst>
          </p:cNvPr>
          <p:cNvSpPr/>
          <p:nvPr/>
        </p:nvSpPr>
        <p:spPr>
          <a:xfrm>
            <a:off x="2444977" y="3656804"/>
            <a:ext cx="3054096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B728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Admin / Viewer / Editor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2752842C-B903-4E46-A738-BA41DA1E67B5}"/>
              </a:ext>
            </a:extLst>
          </p:cNvPr>
          <p:cNvSpPr/>
          <p:nvPr/>
        </p:nvSpPr>
        <p:spPr>
          <a:xfrm>
            <a:off x="2188945" y="4664518"/>
            <a:ext cx="3566160" cy="17373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64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FD98EF8D-0360-43F9-82BB-7E19BF48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977" y="4893118"/>
            <a:ext cx="457200" cy="4572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Text 21">
            <a:extLst>
              <a:ext uri="{FF2B5EF4-FFF2-40B4-BE49-F238E27FC236}">
                <a16:creationId xmlns:a16="http://schemas.microsoft.com/office/drawing/2014/main" id="{3A2B397F-7613-4661-8B5A-A4F74654B6A8}"/>
              </a:ext>
            </a:extLst>
          </p:cNvPr>
          <p:cNvSpPr/>
          <p:nvPr/>
        </p:nvSpPr>
        <p:spPr>
          <a:xfrm>
            <a:off x="2444977" y="4893118"/>
            <a:ext cx="3054096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1200" cap="none" spc="0" baseline="0">
                <a:solidFill>
                  <a:srgbClr val="2E9E7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AI</a:t>
            </a:r>
            <a:endParaRPr lang="en-US" sz="30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233EF370-2383-4B1D-9C1B-02897AA5E4C4}"/>
              </a:ext>
            </a:extLst>
          </p:cNvPr>
          <p:cNvSpPr/>
          <p:nvPr/>
        </p:nvSpPr>
        <p:spPr>
          <a:xfrm>
            <a:off x="2444977" y="5331564"/>
            <a:ext cx="3054096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Python Rules + Ollama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65266473-4387-4104-9607-17C72AAEA647}"/>
              </a:ext>
            </a:extLst>
          </p:cNvPr>
          <p:cNvSpPr/>
          <p:nvPr/>
        </p:nvSpPr>
        <p:spPr>
          <a:xfrm>
            <a:off x="2444977" y="5668484"/>
            <a:ext cx="3054096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B728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ใช้กฎที่เขียนด้วย Python ร่วมกับโมเดล AI Ollama (Qwen3 8B) ที่รันในเครื่อง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4738D898-A585-432C-915F-DFB0ACAF7861}"/>
              </a:ext>
            </a:extLst>
          </p:cNvPr>
          <p:cNvSpPr/>
          <p:nvPr/>
        </p:nvSpPr>
        <p:spPr>
          <a:xfrm>
            <a:off x="6075145" y="4664518"/>
            <a:ext cx="3566160" cy="17373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64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6B1FC2A-8EF5-4AD8-83EE-0E72001F0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177" y="4893118"/>
            <a:ext cx="457200" cy="4572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 25">
            <a:extLst>
              <a:ext uri="{FF2B5EF4-FFF2-40B4-BE49-F238E27FC236}">
                <a16:creationId xmlns:a16="http://schemas.microsoft.com/office/drawing/2014/main" id="{99BC5F56-D9D4-44CB-9BCC-99638CFFACDE}"/>
              </a:ext>
            </a:extLst>
          </p:cNvPr>
          <p:cNvSpPr/>
          <p:nvPr/>
        </p:nvSpPr>
        <p:spPr>
          <a:xfrm>
            <a:off x="6331177" y="4893118"/>
            <a:ext cx="3054096" cy="685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000" b="1" i="0" u="none" strike="noStrike" kern="0" cap="none" spc="0" baseline="0">
                <a:solidFill>
                  <a:srgbClr val="2F3C9E"/>
                </a:solidFill>
                <a:uFillTx/>
                <a:latin typeface="Lotuss Smart HL"/>
                <a:ea typeface="Calibri"/>
                <a:cs typeface="Lotuss Smart HL" pitchFamily="2"/>
              </a:rPr>
              <a:t>5</a:t>
            </a:r>
            <a:endParaRPr lang="en-US" sz="3000" b="1" i="0" u="none" strike="noStrike" kern="1200" cap="none" spc="0" baseline="0">
              <a:solidFill>
                <a:srgbClr val="2F3C9E"/>
              </a:solidFill>
              <a:uFillTx/>
              <a:latin typeface="Lotuss Smart HL" pitchFamily="2"/>
              <a:ea typeface="Calibri"/>
              <a:cs typeface="Lotuss Smart HL" pitchFamily="2"/>
            </a:endParaRPr>
          </a:p>
        </p:txBody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2F2461BE-392C-4FCA-8F37-31C5EF052F3A}"/>
              </a:ext>
            </a:extLst>
          </p:cNvPr>
          <p:cNvSpPr/>
          <p:nvPr/>
        </p:nvSpPr>
        <p:spPr>
          <a:xfrm>
            <a:off x="6331177" y="5331564"/>
            <a:ext cx="3054096" cy="29260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MAIN TABS (หน้าหลัก)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83F1D763-6968-4E6E-9706-FECA62131EFF}"/>
              </a:ext>
            </a:extLst>
          </p:cNvPr>
          <p:cNvSpPr/>
          <p:nvPr/>
        </p:nvSpPr>
        <p:spPr>
          <a:xfrm>
            <a:off x="6331177" y="5668484"/>
            <a:ext cx="3054096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6B7280"/>
                </a:solidFill>
                <a:uFillTx/>
                <a:latin typeface="Lotuss Smart HL"/>
                <a:ea typeface="Calibri"/>
                <a:cs typeface="Lotuss Smart HL" pitchFamily="2"/>
              </a:rPr>
              <a:t>แบ่งฟังก์ชันการทำงานเป็น </a:t>
            </a:r>
            <a:r>
              <a:rPr lang="en-US" sz="1400" b="0" i="0" u="none" strike="noStrike" kern="0" cap="none" spc="0" baseline="0">
                <a:solidFill>
                  <a:srgbClr val="6B7280"/>
                </a:solidFill>
                <a:uFillTx/>
                <a:latin typeface="Lotuss Smart HL"/>
                <a:ea typeface="Calibri"/>
                <a:cs typeface="Lotuss Smart HL" pitchFamily="2"/>
              </a:rPr>
              <a:t>5 </a:t>
            </a:r>
            <a:r>
              <a:rPr lang="en-US" sz="1400" b="0" i="0" u="none" strike="noStrike" kern="1200" cap="none" spc="0" baseline="0">
                <a:solidFill>
                  <a:srgbClr val="6B7280"/>
                </a:solidFill>
                <a:uFillTx/>
                <a:latin typeface="Lotuss Smart HL"/>
                <a:ea typeface="Calibri"/>
                <a:cs typeface="Lotuss Smart HL" pitchFamily="2"/>
              </a:rPr>
              <a:t>แท็บหลัก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59F1-DC48-4776-A371-01578AF1B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th-TH" sz="3600"/>
              <a:t>สิทธิ์การใช้งานระบบ (</a:t>
            </a:r>
            <a:r>
              <a:rPr lang="en-US" sz="3600"/>
              <a:t>Roles &amp; Permissions)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B462D-B2CE-45A6-BC88-C98F3E0F09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9647" y="1294305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447041" lvl="0" indent="-447041"/>
            <a:r>
              <a:rPr lang="th-TH">
                <a:latin typeface="Prompt Medium"/>
                <a:cs typeface="Prompt Medium"/>
              </a:rPr>
              <a:t>ระบบรองรับผู้ใช้งาน 3 สิทธิ์ จำกัดผู้ใช้รวมไม่เกิน 50 คน</a:t>
            </a:r>
            <a:endParaRPr lang="en-US">
              <a:latin typeface="Prompt Medium"/>
              <a:cs typeface="Prompt Medium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6BEFB4D-C407-44DB-B421-F087AE843E65}"/>
              </a:ext>
            </a:extLst>
          </p:cNvPr>
          <p:cNvSpPr/>
          <p:nvPr/>
        </p:nvSpPr>
        <p:spPr>
          <a:xfrm>
            <a:off x="457200" y="1912979"/>
            <a:ext cx="3440612" cy="233172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016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FCCA6CD-4017-4DF2-929F-D688EE67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59" y="2017989"/>
            <a:ext cx="466636" cy="52469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71AAF3BF-D832-4405-A542-2B35B531781E}"/>
              </a:ext>
            </a:extLst>
          </p:cNvPr>
          <p:cNvSpPr/>
          <p:nvPr/>
        </p:nvSpPr>
        <p:spPr>
          <a:xfrm>
            <a:off x="1406255" y="2006952"/>
            <a:ext cx="1511658" cy="5341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F3C9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ADMIN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D91A9C-44E5-4EC5-9C16-8356A7E274A4}"/>
              </a:ext>
            </a:extLst>
          </p:cNvPr>
          <p:cNvSpPr/>
          <p:nvPr/>
        </p:nvSpPr>
        <p:spPr>
          <a:xfrm>
            <a:off x="731520" y="2880332"/>
            <a:ext cx="3090818" cy="108040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จัดการข้อมูลและตั้งค่าระบบ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ดูข้อมูล Rangesheet และรายงานได้ทั้งหมด</a:t>
            </a:r>
            <a:endParaRPr lang="en-US" sz="1200" b="0" i="0" u="none" strike="noStrike" kern="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แก้ไขข้อมูล Rangesheet</a:t>
            </a:r>
            <a:endParaRPr lang="en-US" sz="1200" b="0" i="0" u="none" strike="noStrike" kern="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</a:t>
            </a:r>
            <a:r>
              <a:rPr lang="th-TH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อัพโหลด</a:t>
            </a: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/</a:t>
            </a:r>
            <a:r>
              <a:rPr lang="th-TH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ลบไฟล์ </a:t>
            </a: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Raw data</a:t>
            </a:r>
            <a:endParaRPr lang="en-US" sz="1200" b="0" i="0" u="none" strike="noStrike" kern="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777978-D5EF-48F5-8E3B-E92E33705DA6}"/>
              </a:ext>
            </a:extLst>
          </p:cNvPr>
          <p:cNvSpPr/>
          <p:nvPr/>
        </p:nvSpPr>
        <p:spPr>
          <a:xfrm>
            <a:off x="7882347" y="1912979"/>
            <a:ext cx="3440612" cy="233172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016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6708F66E-29FD-4F1D-B6FF-8F4B1A383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548" y="2045229"/>
            <a:ext cx="502920" cy="50292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FE0BB86C-21B7-478A-9673-05423A40DD91}"/>
              </a:ext>
            </a:extLst>
          </p:cNvPr>
          <p:cNvSpPr/>
          <p:nvPr/>
        </p:nvSpPr>
        <p:spPr>
          <a:xfrm>
            <a:off x="8881558" y="1988948"/>
            <a:ext cx="2070466" cy="5413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2E9E7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VIEWER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9A218CC-502C-40F7-8149-C9933E05619A}"/>
              </a:ext>
            </a:extLst>
          </p:cNvPr>
          <p:cNvSpPr/>
          <p:nvPr/>
        </p:nvSpPr>
        <p:spPr>
          <a:xfrm>
            <a:off x="8162473" y="2680572"/>
            <a:ext cx="3003730" cy="128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ดูข้อมูล Rangesheet และรายงานได้ทั้งหมด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✕</a:t>
            </a:r>
            <a:r>
              <a:rPr lang="en-US" sz="1200" b="0" i="0" u="none" strike="noStrike" kern="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 แก้ไขข้อมูล Rangesheet </a:t>
            </a:r>
            <a:r>
              <a:rPr lang="th-TH" sz="1200" b="0" i="0" u="none" strike="noStrike" kern="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ไม่</a:t>
            </a:r>
            <a:r>
              <a:rPr lang="en-US" sz="1200" b="0" i="0" u="none" strike="noStrike" kern="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ได้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✕ ไม่สามารถแก้ไขหรืออัปเดตข้อมูลใด ๆ</a:t>
            </a:r>
            <a:r>
              <a:rPr lang="en-US" sz="1200" b="0" i="0" u="none" strike="noStrike" kern="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 ใน raw data ได้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✕ ไม่สามารถเปลี่ยนค่าตั้งระบบ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FECC1B7-96F4-4DD1-80BB-FEE4D9CBBDA2}"/>
              </a:ext>
            </a:extLst>
          </p:cNvPr>
          <p:cNvSpPr/>
          <p:nvPr/>
        </p:nvSpPr>
        <p:spPr>
          <a:xfrm>
            <a:off x="457200" y="4572000"/>
            <a:ext cx="3429000" cy="15087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571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B26A3376-9437-4B8F-85E1-3C7995BFD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28032"/>
            <a:ext cx="411480" cy="411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1575DE3B-10C3-4EC4-B9B8-53B65BAA1307}"/>
              </a:ext>
            </a:extLst>
          </p:cNvPr>
          <p:cNvSpPr/>
          <p:nvPr/>
        </p:nvSpPr>
        <p:spPr>
          <a:xfrm>
            <a:off x="457200" y="4800600"/>
            <a:ext cx="315467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F3C9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≤ 50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EE68F71-BEFD-4912-8CDA-16E4D56BDC16}"/>
              </a:ext>
            </a:extLst>
          </p:cNvPr>
          <p:cNvSpPr/>
          <p:nvPr/>
        </p:nvSpPr>
        <p:spPr>
          <a:xfrm>
            <a:off x="731520" y="5440680"/>
            <a:ext cx="288036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จำนวนผู้ใช้งานสูงสุดที่ระบบรองรับ (Users Limit)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E9E9CC0-53F8-4A3D-842C-27833419F52C}"/>
              </a:ext>
            </a:extLst>
          </p:cNvPr>
          <p:cNvSpPr/>
          <p:nvPr/>
        </p:nvSpPr>
        <p:spPr>
          <a:xfrm>
            <a:off x="4160520" y="4572000"/>
            <a:ext cx="3429000" cy="15087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571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13AE8D9-377F-471F-B5D4-972DC8F5E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828032"/>
            <a:ext cx="411480" cy="411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ADAC26F5-5B49-4CC6-89FA-119E02ADAD8E}"/>
              </a:ext>
            </a:extLst>
          </p:cNvPr>
          <p:cNvSpPr/>
          <p:nvPr/>
        </p:nvSpPr>
        <p:spPr>
          <a:xfrm>
            <a:off x="4160520" y="4800600"/>
            <a:ext cx="315467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1200" cap="none" spc="0" baseline="0">
                <a:solidFill>
                  <a:srgbClr val="2E9E7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AI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C8C4F1A-BEFD-44BC-920E-9131FE9992AE}"/>
              </a:ext>
            </a:extLst>
          </p:cNvPr>
          <p:cNvSpPr/>
          <p:nvPr/>
        </p:nvSpPr>
        <p:spPr>
          <a:xfrm>
            <a:off x="4434840" y="5440680"/>
            <a:ext cx="288036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23272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Python Rule-based Engine + Ollama (Qwen3 8B) สำหรับวิเคราะห์ข้อมูลอัตโนมัติ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27ADEE4-D744-4EAD-9037-8A4E694203DC}"/>
              </a:ext>
            </a:extLst>
          </p:cNvPr>
          <p:cNvSpPr/>
          <p:nvPr/>
        </p:nvSpPr>
        <p:spPr>
          <a:xfrm>
            <a:off x="7863840" y="4572000"/>
            <a:ext cx="3429000" cy="150876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571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A885944-8DA4-44E7-9E22-1EF0375BB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828032"/>
            <a:ext cx="411480" cy="4114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82466A2E-483B-42B4-AD60-E9C651C4AD3B}"/>
              </a:ext>
            </a:extLst>
          </p:cNvPr>
          <p:cNvSpPr/>
          <p:nvPr/>
        </p:nvSpPr>
        <p:spPr>
          <a:xfrm>
            <a:off x="7863840" y="4800600"/>
            <a:ext cx="3154679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1" i="0" u="none" strike="noStrike" kern="0" cap="none" spc="0" baseline="0">
                <a:solidFill>
                  <a:srgbClr val="2F3C9E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5</a:t>
            </a:r>
            <a:endParaRPr lang="en-US" sz="2400" b="1" i="0" u="none" strike="noStrike" kern="1200" cap="none" spc="0" baseline="0">
              <a:solidFill>
                <a:srgbClr val="2F3C9E"/>
              </a:solidFill>
              <a:uFillTx/>
              <a:latin typeface="Lotuss Smart HL" pitchFamily="2"/>
              <a:ea typeface="Calibri"/>
              <a:cs typeface="Lotuss Smart HL" pitchFamily="2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AEFB700-1927-434F-9EBC-658624275F94}"/>
              </a:ext>
            </a:extLst>
          </p:cNvPr>
          <p:cNvSpPr/>
          <p:nvPr/>
        </p:nvSpPr>
        <p:spPr>
          <a:xfrm>
            <a:off x="8138160" y="5440680"/>
            <a:ext cx="2880360" cy="54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23272F"/>
                </a:solidFill>
                <a:uFillTx/>
                <a:latin typeface="Lotuss Smart HL"/>
                <a:ea typeface="Calibri"/>
                <a:cs typeface="Lotuss Smart HL" pitchFamily="2"/>
              </a:rPr>
              <a:t>Main Tabs: แบ่งการทำงานออกเป็น </a:t>
            </a:r>
            <a:r>
              <a:rPr lang="en-US" sz="1400" b="0" i="0" u="none" strike="noStrike" kern="0" cap="none" spc="0" baseline="0">
                <a:solidFill>
                  <a:srgbClr val="23272F"/>
                </a:solidFill>
                <a:uFillTx/>
                <a:latin typeface="Lotuss Smart HL"/>
                <a:ea typeface="Calibri"/>
                <a:cs typeface="Lotuss Smart HL" pitchFamily="2"/>
              </a:rPr>
              <a:t>5 </a:t>
            </a:r>
            <a:r>
              <a:rPr lang="en-US" sz="1400" b="0" i="0" u="none" strike="noStrike" kern="1200" cap="none" spc="0" baseline="0">
                <a:solidFill>
                  <a:srgbClr val="23272F"/>
                </a:solidFill>
                <a:uFillTx/>
                <a:latin typeface="Lotuss Smart HL"/>
                <a:ea typeface="Calibri"/>
                <a:cs typeface="Lotuss Smart HL" pitchFamily="2"/>
              </a:rPr>
              <a:t>แท็บหลักในแอป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853FF2C9-2A73-43D1-8185-578F883D9E2D}"/>
              </a:ext>
            </a:extLst>
          </p:cNvPr>
          <p:cNvSpPr/>
          <p:nvPr/>
        </p:nvSpPr>
        <p:spPr>
          <a:xfrm>
            <a:off x="4160520" y="1912979"/>
            <a:ext cx="3440612" cy="233172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016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C9D0FA"/>
            </a:solidFill>
            <a:prstDash val="solid"/>
            <a:miter/>
          </a:ln>
          <a:effectLst>
            <a:outerShdw dist="38103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F2ABAE85-6A97-41E4-B5D8-75B201370BDB}"/>
              </a:ext>
            </a:extLst>
          </p:cNvPr>
          <p:cNvSpPr/>
          <p:nvPr/>
        </p:nvSpPr>
        <p:spPr>
          <a:xfrm>
            <a:off x="5157472" y="2020174"/>
            <a:ext cx="2070466" cy="5413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FFC000"/>
                </a:solidFill>
                <a:uFillTx/>
                <a:latin typeface="Lotuss Smart HL"/>
                <a:ea typeface="Calibri"/>
              </a:rPr>
              <a:t>EDITOR</a:t>
            </a:r>
            <a:endParaRPr lang="en-US" sz="1800" b="0" i="0" u="none" strike="noStrike" kern="0" cap="none" spc="0" baseline="0">
              <a:solidFill>
                <a:srgbClr val="FFC000"/>
              </a:solidFill>
              <a:uFillTx/>
              <a:latin typeface="Calibri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3A8C72F-D74A-40AF-A88A-B4FF4FF2F004}"/>
              </a:ext>
            </a:extLst>
          </p:cNvPr>
          <p:cNvSpPr/>
          <p:nvPr/>
        </p:nvSpPr>
        <p:spPr>
          <a:xfrm>
            <a:off x="4428128" y="2827379"/>
            <a:ext cx="3090818" cy="128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ดู</a:t>
            </a: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 </a:t>
            </a: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Rangesheet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และรายงานทั้งหมด </a:t>
            </a:r>
            <a:endParaRPr lang="en-US" sz="1200" b="1" i="0" u="none" strike="noStrike" kern="1200" cap="none" spc="0" baseline="0">
              <a:solidFill>
                <a:srgbClr val="2E9E78"/>
              </a:solidFill>
              <a:uFillTx/>
              <a:latin typeface="Lotuss Smart HL"/>
              <a:ea typeface="Calibri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แก้ไขข้อมูล </a:t>
            </a: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Rangesheet 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อัปโหลด / แก้ไข / ลบ </a:t>
            </a: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Rangesheet 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✓ </a:t>
            </a: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Pin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ไฟล์ </a:t>
            </a:r>
            <a:r>
              <a:rPr lang="en-US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Raw Data </a:t>
            </a:r>
            <a:r>
              <a:rPr lang="th-TH" sz="1200" b="1" i="0" u="none" strike="noStrike" kern="1200" cap="none" spc="0" baseline="0">
                <a:solidFill>
                  <a:srgbClr val="2E9E78"/>
                </a:solidFill>
                <a:uFillTx/>
                <a:latin typeface="Lotuss Smart HL"/>
                <a:ea typeface="Calibri"/>
                <a:cs typeface="Lotuss Smart HL" pitchFamily="2"/>
              </a:rPr>
              <a:t>ตามการเปลี่ยนแปลง</a:t>
            </a:r>
            <a:endParaRPr lang="en-US" sz="1200" b="1" i="0" u="none" strike="noStrike" kern="1200" cap="none" spc="0" baseline="0">
              <a:solidFill>
                <a:srgbClr val="2E9E78"/>
              </a:solidFill>
              <a:uFillTx/>
              <a:latin typeface="Lotuss Smart HL"/>
              <a:ea typeface="Calibri"/>
              <a:cs typeface="Lotuss Smart H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9A9A9A"/>
                </a:solidFill>
                <a:uFillTx/>
                <a:latin typeface="Lotuss Smart HL"/>
                <a:ea typeface="Calibri"/>
                <a:cs typeface="Lotuss Smart HL" pitchFamily="2"/>
              </a:rPr>
              <a:t>✕ ไม่สามารถเปลี่ยนค่าตั้งระบบ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  <p:pic>
        <p:nvPicPr>
          <p:cNvPr id="27" name="Picture 27" descr="User Icon Vector Art, Icons, and Graphics for Free Download">
            <a:extLst>
              <a:ext uri="{FF2B5EF4-FFF2-40B4-BE49-F238E27FC236}">
                <a16:creationId xmlns:a16="http://schemas.microsoft.com/office/drawing/2014/main" id="{D088BBC1-39C9-46F2-953D-9F659C636E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284" y="1982282"/>
            <a:ext cx="537027" cy="55879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D7D8BBC8-D1DD-492D-9BD6-23EBE564F3B2}"/>
              </a:ext>
            </a:extLst>
          </p:cNvPr>
          <p:cNvSpPr txBox="1"/>
          <p:nvPr/>
        </p:nvSpPr>
        <p:spPr>
          <a:xfrm>
            <a:off x="609603" y="308427"/>
            <a:ext cx="6096003" cy="1200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5400" b="1" i="0" u="none" strike="noStrike" kern="1200" cap="none" spc="0" baseline="0">
                <a:solidFill>
                  <a:srgbClr val="FBB215"/>
                </a:solidFill>
                <a:uFillTx/>
                <a:latin typeface="Lotuss Smart HL"/>
              </a:rPr>
              <a:t>PROS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3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20D958-EE1C-4A60-A166-2EAD62E2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94" b="70884"/>
          <a:stretch>
            <a:fillRect/>
          </a:stretch>
        </p:blipFill>
        <p:spPr>
          <a:xfrm>
            <a:off x="467358" y="1185565"/>
            <a:ext cx="12191996" cy="4654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CB44CD-1148-4841-B85F-FE579262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81" r="-1429" b="-157"/>
          <a:stretch>
            <a:fillRect/>
          </a:stretch>
        </p:blipFill>
        <p:spPr>
          <a:xfrm>
            <a:off x="0" y="1793339"/>
            <a:ext cx="12366171" cy="326241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C08BCB-8EDC-4E72-9713-FF4B714594D8}"/>
              </a:ext>
            </a:extLst>
          </p:cNvPr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2F1031-74B4-4B62-AE62-50C6672863F2}"/>
              </a:ext>
            </a:extLst>
          </p:cNvPr>
          <p:cNvSpPr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72745F6-2D3F-4316-A3F7-47BE4490BD6A}"/>
              </a:ext>
            </a:extLst>
          </p:cNvPr>
          <p:cNvSpPr/>
          <p:nvPr/>
        </p:nvSpPr>
        <p:spPr>
          <a:xfrm>
            <a:off x="388620" y="1645920"/>
            <a:ext cx="3611879" cy="2834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5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0D9D2"/>
            </a:solidFill>
            <a:prstDash val="solid"/>
            <a:miter/>
          </a:ln>
          <a:effectLst>
            <a:outerShdw dist="25402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8B8884-83AE-40B9-A601-B95D33203B8E}"/>
              </a:ext>
            </a:extLst>
          </p:cNvPr>
          <p:cNvSpPr/>
          <p:nvPr/>
        </p:nvSpPr>
        <p:spPr>
          <a:xfrm>
            <a:off x="644652" y="1901952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F6E5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9AD599-648B-42A7-9935-DB9EC500C883}"/>
              </a:ext>
            </a:extLst>
          </p:cNvPr>
          <p:cNvSpPr/>
          <p:nvPr/>
        </p:nvSpPr>
        <p:spPr>
          <a:xfrm>
            <a:off x="644652" y="1901952"/>
            <a:ext cx="566928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1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CBE232F-B1B9-4466-8254-CAC8561E6482}"/>
              </a:ext>
            </a:extLst>
          </p:cNvPr>
          <p:cNvSpPr/>
          <p:nvPr/>
        </p:nvSpPr>
        <p:spPr>
          <a:xfrm>
            <a:off x="1348739" y="1883664"/>
            <a:ext cx="246888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Saves time</a:t>
            </a: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0C8711-C1AA-4110-B09B-A512BAF4F8D0}"/>
              </a:ext>
            </a:extLst>
          </p:cNvPr>
          <p:cNvSpPr/>
          <p:nvPr/>
        </p:nvSpPr>
        <p:spPr>
          <a:xfrm>
            <a:off x="1348739" y="2240279"/>
            <a:ext cx="24688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1" u="none" strike="noStrike" kern="1200" cap="none" spc="0" baseline="0">
                <a:solidFill>
                  <a:srgbClr val="1D9E75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Time Savings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43935D-222D-4C79-A4A6-C921BD4A9277}"/>
              </a:ext>
            </a:extLst>
          </p:cNvPr>
          <p:cNvSpPr/>
          <p:nvPr/>
        </p:nvSpPr>
        <p:spPr>
          <a:xfrm>
            <a:off x="644652" y="2743200"/>
            <a:ext cx="3099815" cy="1645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Auto-fill from raw data — no more typing every column by hand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Filter by DG instead of scrolling huge sheets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/>
                <a:ea typeface="Calibri"/>
                <a:cs typeface="Lotuss Smart HL" pitchFamily="2"/>
              </a:rPr>
              <a:t>Reports</a:t>
            </a:r>
            <a:r>
              <a:rPr lang="en-US" sz="1150" b="0" i="0" u="none" strike="noStrike" kern="0" cap="none" spc="0" baseline="0">
                <a:solidFill>
                  <a:srgbClr val="1A1A1A"/>
                </a:solidFill>
                <a:uFillTx/>
                <a:latin typeface="Lotuss Smart HL"/>
                <a:ea typeface="Calibri"/>
                <a:cs typeface="Lotuss Smart HL" pitchFamily="2"/>
              </a:rPr>
              <a:t> </a:t>
            </a: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/>
                <a:ea typeface="Calibri"/>
                <a:cs typeface="Lotuss Smart HL" pitchFamily="2"/>
              </a:rPr>
              <a:t> update the moment you submit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4FDBA5-DC32-4D80-91FF-AC5CDB7333F1}"/>
              </a:ext>
            </a:extLst>
          </p:cNvPr>
          <p:cNvSpPr/>
          <p:nvPr/>
        </p:nvSpPr>
        <p:spPr>
          <a:xfrm>
            <a:off x="4274820" y="1645920"/>
            <a:ext cx="3611879" cy="2834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5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0D9D2"/>
            </a:solidFill>
            <a:prstDash val="solid"/>
            <a:miter/>
          </a:ln>
          <a:effectLst>
            <a:outerShdw dist="25402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BA0423A-1A7B-44AB-A3E1-6142E585FE17}"/>
              </a:ext>
            </a:extLst>
          </p:cNvPr>
          <p:cNvSpPr/>
          <p:nvPr/>
        </p:nvSpPr>
        <p:spPr>
          <a:xfrm>
            <a:off x="4530852" y="1901952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F6E5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AE9B30-5D40-4F2C-BA78-506E60DEFF3C}"/>
              </a:ext>
            </a:extLst>
          </p:cNvPr>
          <p:cNvSpPr/>
          <p:nvPr/>
        </p:nvSpPr>
        <p:spPr>
          <a:xfrm>
            <a:off x="4530852" y="1901952"/>
            <a:ext cx="566928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2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61B4FF-DD3B-4015-A0E7-21F2F1A6B1B7}"/>
              </a:ext>
            </a:extLst>
          </p:cNvPr>
          <p:cNvSpPr/>
          <p:nvPr/>
        </p:nvSpPr>
        <p:spPr>
          <a:xfrm>
            <a:off x="5234940" y="1883664"/>
            <a:ext cx="246888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Fewer mistakes</a:t>
            </a: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646AC2-3162-4F5A-B715-A661527D8236}"/>
              </a:ext>
            </a:extLst>
          </p:cNvPr>
          <p:cNvSpPr/>
          <p:nvPr/>
        </p:nvSpPr>
        <p:spPr>
          <a:xfrm>
            <a:off x="5234940" y="2240279"/>
            <a:ext cx="24688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1" u="none" strike="noStrike" kern="1200" cap="none" spc="0" baseline="0">
                <a:solidFill>
                  <a:srgbClr val="1D9E75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Error Reduction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BED80D2-5ACA-48C4-B775-E5DBE5D61923}"/>
              </a:ext>
            </a:extLst>
          </p:cNvPr>
          <p:cNvSpPr/>
          <p:nvPr/>
        </p:nvSpPr>
        <p:spPr>
          <a:xfrm>
            <a:off x="4530852" y="2769671"/>
            <a:ext cx="3099815" cy="1645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Validation runs automatically — no manual double-checking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Catches common errors: text in price fields, missing fields, conflicting status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4D2EF1C-DD2A-49C4-8E01-C8BC851C256D}"/>
              </a:ext>
            </a:extLst>
          </p:cNvPr>
          <p:cNvSpPr/>
          <p:nvPr/>
        </p:nvSpPr>
        <p:spPr>
          <a:xfrm>
            <a:off x="8161020" y="1645920"/>
            <a:ext cx="3611879" cy="2834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5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0D9D2"/>
            </a:solidFill>
            <a:prstDash val="solid"/>
            <a:miter/>
          </a:ln>
          <a:effectLst>
            <a:outerShdw dist="25402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A24ACF5-9F57-4049-AE00-7C1B47D95411}"/>
              </a:ext>
            </a:extLst>
          </p:cNvPr>
          <p:cNvSpPr/>
          <p:nvPr/>
        </p:nvSpPr>
        <p:spPr>
          <a:xfrm>
            <a:off x="8417052" y="1901952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F6E5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6BB588-EAFA-4F27-AF68-C82BB819D2AF}"/>
              </a:ext>
            </a:extLst>
          </p:cNvPr>
          <p:cNvSpPr/>
          <p:nvPr/>
        </p:nvSpPr>
        <p:spPr>
          <a:xfrm>
            <a:off x="8417052" y="1901952"/>
            <a:ext cx="566928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3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635E130-8DDD-419B-B0ED-8433932E637E}"/>
              </a:ext>
            </a:extLst>
          </p:cNvPr>
          <p:cNvSpPr/>
          <p:nvPr/>
        </p:nvSpPr>
        <p:spPr>
          <a:xfrm>
            <a:off x="9121140" y="1883664"/>
            <a:ext cx="246888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See the full picture, faster</a:t>
            </a: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37A8FB-8CFF-4012-B6AC-D964344ED1A7}"/>
              </a:ext>
            </a:extLst>
          </p:cNvPr>
          <p:cNvSpPr/>
          <p:nvPr/>
        </p:nvSpPr>
        <p:spPr>
          <a:xfrm>
            <a:off x="9052560" y="2404872"/>
            <a:ext cx="246888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1" u="none" strike="noStrike" kern="1200" cap="none" spc="0" baseline="0">
                <a:solidFill>
                  <a:srgbClr val="1D9E75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Visibility &amp; Decision Speed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1642AB-F2A7-4081-914B-CC164701CC28}"/>
              </a:ext>
            </a:extLst>
          </p:cNvPr>
          <p:cNvSpPr/>
          <p:nvPr/>
        </p:nvSpPr>
        <p:spPr>
          <a:xfrm>
            <a:off x="8417052" y="2536810"/>
            <a:ext cx="3099815" cy="1645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14999"/>
              </a:lnSpc>
              <a:spcBef>
                <a:spcPts val="0"/>
              </a:spcBef>
              <a:spcAft>
                <a:spcPts val="8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50" b="0" i="0" u="none" strike="noStrike" kern="0" cap="none" spc="0" baseline="0">
              <a:solidFill>
                <a:srgbClr val="1A1A1A"/>
              </a:solidFill>
              <a:uFillTx/>
              <a:latin typeface="Lotuss Smart HL" pitchFamily="2"/>
              <a:ea typeface="Calibri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/>
                <a:ea typeface="Calibri"/>
                <a:cs typeface="Lotuss Smart HL" pitchFamily="2"/>
              </a:rPr>
              <a:t>Proactive gap alerts — e.g. "1 store still not maintained"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/>
              <a:ea typeface="Calibri"/>
              <a:cs typeface="Lotuss Smart HL" pitchFamily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63FA3F04-2D73-4B67-B889-CB0B62B56BF6}"/>
              </a:ext>
            </a:extLst>
          </p:cNvPr>
          <p:cNvSpPr/>
          <p:nvPr/>
        </p:nvSpPr>
        <p:spPr>
          <a:xfrm>
            <a:off x="822960" y="2011680"/>
            <a:ext cx="5029200" cy="228600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691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0D9D2"/>
            </a:solidFill>
            <a:prstDash val="solid"/>
            <a:miter/>
          </a:ln>
          <a:effectLst>
            <a:outerShdw dist="25402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79BEB94-2B0D-4CBA-A2BC-D9CE19C378FB}"/>
              </a:ext>
            </a:extLst>
          </p:cNvPr>
          <p:cNvSpPr/>
          <p:nvPr/>
        </p:nvSpPr>
        <p:spPr>
          <a:xfrm>
            <a:off x="1078992" y="2267712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F6E5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663B9966-05F2-4C37-B032-648E44877EBC}"/>
              </a:ext>
            </a:extLst>
          </p:cNvPr>
          <p:cNvSpPr/>
          <p:nvPr/>
        </p:nvSpPr>
        <p:spPr>
          <a:xfrm>
            <a:off x="1078992" y="2267712"/>
            <a:ext cx="566928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4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3A1AA52-638C-4768-B4CC-6E1ACF2F2DC3}"/>
              </a:ext>
            </a:extLst>
          </p:cNvPr>
          <p:cNvSpPr/>
          <p:nvPr/>
        </p:nvSpPr>
        <p:spPr>
          <a:xfrm>
            <a:off x="1783080" y="2249424"/>
            <a:ext cx="388620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Full accountability</a:t>
            </a: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D1FCBF9-DAE0-45EC-ADB1-D11740E58E60}"/>
              </a:ext>
            </a:extLst>
          </p:cNvPr>
          <p:cNvSpPr/>
          <p:nvPr/>
        </p:nvSpPr>
        <p:spPr>
          <a:xfrm>
            <a:off x="1783080" y="2606039"/>
            <a:ext cx="3886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1" u="none" strike="noStrike" kern="1200" cap="none" spc="0" baseline="0">
                <a:solidFill>
                  <a:srgbClr val="1D9E75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Accountability &amp; Traceability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FC643A8-E66E-4656-A8E3-01044D71458E}"/>
              </a:ext>
            </a:extLst>
          </p:cNvPr>
          <p:cNvSpPr/>
          <p:nvPr/>
        </p:nvSpPr>
        <p:spPr>
          <a:xfrm>
            <a:off x="1078992" y="2971800"/>
            <a:ext cx="4517136" cy="1097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Audit log tracks who changed what, and when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Transparent history builds confidence in every decision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1F2A169-404C-4895-97F0-896E4ADEBD89}"/>
              </a:ext>
            </a:extLst>
          </p:cNvPr>
          <p:cNvSpPr/>
          <p:nvPr/>
        </p:nvSpPr>
        <p:spPr>
          <a:xfrm>
            <a:off x="6309360" y="2011680"/>
            <a:ext cx="5029200" cy="228600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691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E0D9D2"/>
            </a:solidFill>
            <a:prstDash val="solid"/>
            <a:miter/>
          </a:ln>
          <a:effectLst>
            <a:outerShdw dist="25402" dir="54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4F66C66-20C2-4E2D-B31D-FA617CF6ECFB}"/>
              </a:ext>
            </a:extLst>
          </p:cNvPr>
          <p:cNvSpPr/>
          <p:nvPr/>
        </p:nvSpPr>
        <p:spPr>
          <a:xfrm>
            <a:off x="6565392" y="2267712"/>
            <a:ext cx="566928" cy="566928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F6E56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29366C7-311A-4325-A1F6-F367C7944CD1}"/>
              </a:ext>
            </a:extLst>
          </p:cNvPr>
          <p:cNvSpPr/>
          <p:nvPr/>
        </p:nvSpPr>
        <p:spPr>
          <a:xfrm>
            <a:off x="6565392" y="2267712"/>
            <a:ext cx="566928" cy="56692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5</a:t>
            </a:r>
            <a:endParaRPr lang="en-US" sz="2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80584417-10AA-45D3-A3F9-5E628F9F6860}"/>
              </a:ext>
            </a:extLst>
          </p:cNvPr>
          <p:cNvSpPr/>
          <p:nvPr/>
        </p:nvSpPr>
        <p:spPr>
          <a:xfrm>
            <a:off x="7269480" y="2249424"/>
            <a:ext cx="3886200" cy="3840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7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One edit, everywhere</a:t>
            </a: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FF7B4A47-901D-4FD1-8E92-6FBD0AE17FB0}"/>
              </a:ext>
            </a:extLst>
          </p:cNvPr>
          <p:cNvSpPr/>
          <p:nvPr/>
        </p:nvSpPr>
        <p:spPr>
          <a:xfrm>
            <a:off x="7269480" y="2606039"/>
            <a:ext cx="3886200" cy="25603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b="0" i="1" u="none" strike="noStrike" kern="1200" cap="none" spc="0" baseline="0">
                <a:solidFill>
                  <a:srgbClr val="1D9E75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Consistency Across Outputs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9D1A19D-11F1-4DD5-85A9-6915C57B0F31}"/>
              </a:ext>
            </a:extLst>
          </p:cNvPr>
          <p:cNvSpPr/>
          <p:nvPr/>
        </p:nvSpPr>
        <p:spPr>
          <a:xfrm>
            <a:off x="6565392" y="2971800"/>
            <a:ext cx="4517136" cy="1097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Change a status once — it propagates to every linked tab automatically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50" b="0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No more mismatched output files between reports</a:t>
            </a:r>
            <a:endParaRPr lang="en-US" sz="115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6E3397B-07FB-4824-8595-AA2DBFE5161C}"/>
              </a:ext>
            </a:extLst>
          </p:cNvPr>
          <p:cNvSpPr/>
          <p:nvPr/>
        </p:nvSpPr>
        <p:spPr>
          <a:xfrm>
            <a:off x="3665582" y="365760"/>
            <a:ext cx="6603833" cy="7768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98"/>
              <a:buBlip>
                <a:blip r:embed="rId2"/>
              </a:buBlip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ในช่วงพัฒนาระยะแรกของระบบ </a:t>
            </a:r>
            <a:r>
              <a:rPr lang="en-US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RangeSheet </a:t>
            </a:r>
            <a:r>
              <a:rPr lang="th-TH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ทีมงานยังเข้าไม่ถึงโครงสร้างพื้นฐานหลักของ</a:t>
            </a:r>
            <a:r>
              <a:rPr lang="en-US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Lotus’s</a:t>
            </a:r>
            <a:r>
              <a:rPr lang="th-TH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จึงต้องออกแบบระบบให้ทำงานได้ภายใต้ข้อจำกัดต่อไปนี้</a:t>
            </a:r>
            <a:endParaRPr lang="en-US" sz="2000" b="0" i="0" u="none" strike="noStrike" kern="1200" cap="none" spc="0" baseline="0">
              <a:solidFill>
                <a:srgbClr val="0072CB"/>
              </a:solidFill>
              <a:uFillTx/>
              <a:latin typeface="Prompt Medium" pitchFamily="2"/>
              <a:cs typeface="Prompt Medium" pitchFamily="2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17FF0643-0CE7-43E7-90B4-B03F0A4DA9CE}"/>
              </a:ext>
            </a:extLst>
          </p:cNvPr>
          <p:cNvSpPr/>
          <p:nvPr/>
        </p:nvSpPr>
        <p:spPr>
          <a:xfrm>
            <a:off x="457200" y="1417320"/>
            <a:ext cx="3611523" cy="429732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5572C547-7EB8-4791-B4B9-C85F0F0DF85E}"/>
              </a:ext>
            </a:extLst>
          </p:cNvPr>
          <p:cNvSpPr/>
          <p:nvPr/>
        </p:nvSpPr>
        <p:spPr>
          <a:xfrm>
            <a:off x="6858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CEEFC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2F10917B-4F5C-4B21-B57E-2D842F82F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11">
            <a:extLst>
              <a:ext uri="{FF2B5EF4-FFF2-40B4-BE49-F238E27FC236}">
                <a16:creationId xmlns:a16="http://schemas.microsoft.com/office/drawing/2014/main" id="{3C51936C-099E-440C-A336-E7F416428CFF}"/>
              </a:ext>
            </a:extLst>
          </p:cNvPr>
          <p:cNvSpPr/>
          <p:nvPr/>
        </p:nvSpPr>
        <p:spPr>
          <a:xfrm>
            <a:off x="13258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การจัดเก็บซอร์สโค้ด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9812B04F-18C6-4AC5-A3B3-626C4796401D}"/>
              </a:ext>
            </a:extLst>
          </p:cNvPr>
          <p:cNvSpPr/>
          <p:nvPr/>
        </p:nvSpPr>
        <p:spPr>
          <a:xfrm>
            <a:off x="7772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ทีมยังไม่มีสิทธิ์เข้าถึง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Git Server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ภายใน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Lotus’s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 pitchFamily="34"/>
              <a:cs typeface="Lotuss Smart HL" pitchFamily="2"/>
            </a:endParaRPr>
          </a:p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ใช้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GitHub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ส่วนตัว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(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โดยใช้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email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ของบริษัทสมัคร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)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จัดเก็บโค้ดแทนชั่วคราว</a:t>
            </a:r>
          </a:p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เชื่อมต่อ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CI/CD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หรือ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code review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ตามมาตรฐาน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Lotus’s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ไม่ได้ในตอนนี้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 pitchFamily="34"/>
              <a:cs typeface="Lotuss Smart HL" pitchFamily="2"/>
            </a:endParaRP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E5A21C8A-3D2F-4DA1-97E2-101A331C8A83}"/>
              </a:ext>
            </a:extLst>
          </p:cNvPr>
          <p:cNvSpPr/>
          <p:nvPr/>
        </p:nvSpPr>
        <p:spPr>
          <a:xfrm>
            <a:off x="4343400" y="1417320"/>
            <a:ext cx="3611523" cy="429732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192ADB03-EEDA-45B2-A42E-783F87941F7B}"/>
              </a:ext>
            </a:extLst>
          </p:cNvPr>
          <p:cNvSpPr/>
          <p:nvPr/>
        </p:nvSpPr>
        <p:spPr>
          <a:xfrm>
            <a:off x="45720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BF1DF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AAE5925-21CE-4C9A-BE79-D8CBADC1B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7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 15">
            <a:extLst>
              <a:ext uri="{FF2B5EF4-FFF2-40B4-BE49-F238E27FC236}">
                <a16:creationId xmlns:a16="http://schemas.microsoft.com/office/drawing/2014/main" id="{011C530F-DF74-40F9-B9ED-1B0D6B19BD5C}"/>
              </a:ext>
            </a:extLst>
          </p:cNvPr>
          <p:cNvSpPr/>
          <p:nvPr/>
        </p:nvSpPr>
        <p:spPr>
          <a:xfrm>
            <a:off x="52120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ฐานข้อมูล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224EFA17-06C3-4B35-8591-CB0C192872D2}"/>
              </a:ext>
            </a:extLst>
          </p:cNvPr>
          <p:cNvSpPr/>
          <p:nvPr/>
        </p:nvSpPr>
        <p:spPr>
          <a:xfrm>
            <a:off x="46634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เก็บข้อมูลเป็นไฟล์ .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csv / .parquet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บนเครื่อง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server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เอง ยังไม่เชื่อมฐานข้อมูลของ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Lotus’s</a:t>
            </a:r>
            <a:endParaRPr lang="th-TH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ข้อมูลยังไม่ทนทานพอ และเขียนพร้อมกันหลายคนได้ไม่ดี </a:t>
            </a: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ยังไม่มีระบบ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transaction / rollback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รอพัฒนาต่อเมื่อได้สิทธิ์เข้าฐานข้อมูล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 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Lotus’s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F8747AD8-674D-459E-99B7-4202C70D5271}"/>
              </a:ext>
            </a:extLst>
          </p:cNvPr>
          <p:cNvSpPr/>
          <p:nvPr/>
        </p:nvSpPr>
        <p:spPr>
          <a:xfrm>
            <a:off x="8229600" y="1417320"/>
            <a:ext cx="3611523" cy="429732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CF960B09-F2DF-4FDE-A2B1-2021DE6DEDC7}"/>
              </a:ext>
            </a:extLst>
          </p:cNvPr>
          <p:cNvSpPr/>
          <p:nvPr/>
        </p:nvSpPr>
        <p:spPr>
          <a:xfrm>
            <a:off x="84582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F7F1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30E2C912-B638-4F10-A1F0-FA6E9FFFA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9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 19">
            <a:extLst>
              <a:ext uri="{FF2B5EF4-FFF2-40B4-BE49-F238E27FC236}">
                <a16:creationId xmlns:a16="http://schemas.microsoft.com/office/drawing/2014/main" id="{2BB96640-CED4-4535-AF9B-2269250BFCC8}"/>
              </a:ext>
            </a:extLst>
          </p:cNvPr>
          <p:cNvSpPr/>
          <p:nvPr/>
        </p:nvSpPr>
        <p:spPr>
          <a:xfrm>
            <a:off x="90982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ระบบยืนยันตัวตน (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Login)</a:t>
            </a: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446EA41E-837F-436E-A8E2-1A2068F66F41}"/>
              </a:ext>
            </a:extLst>
          </p:cNvPr>
          <p:cNvSpPr/>
          <p:nvPr/>
        </p:nvSpPr>
        <p:spPr>
          <a:xfrm>
            <a:off x="85496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ล็อกอินแบบ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Local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ใช้ชื่อผู้ใช้/รหัสผ่านที่ตั้งไว้ในโค้ด </a:t>
            </a: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ยังไม่เชื่อมต่อ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Microsoft 365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ของ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 Lotus’s</a:t>
            </a:r>
            <a:endParaRPr lang="th-TH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การเพิ่ม/แก้ผู้ใช้ต้องทำมือ ใช้บัญชีพนักงานจริงยังไม่ได้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1CCFAC0-A114-4B01-BE26-AC443DD40EF3}"/>
              </a:ext>
            </a:extLst>
          </p:cNvPr>
          <p:cNvSpPr txBox="1"/>
          <p:nvPr/>
        </p:nvSpPr>
        <p:spPr>
          <a:xfrm>
            <a:off x="838203" y="365129"/>
            <a:ext cx="2689863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FBB215"/>
                </a:solidFill>
                <a:uFillTx/>
                <a:latin typeface="Prompt" pitchFamily="2"/>
                <a:cs typeface="Prompt" pitchFamily="2"/>
              </a:rPr>
              <a:t>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1743D08-1083-4BA0-A8AF-CEEFAECE7951}"/>
              </a:ext>
            </a:extLst>
          </p:cNvPr>
          <p:cNvSpPr/>
          <p:nvPr/>
        </p:nvSpPr>
        <p:spPr>
          <a:xfrm>
            <a:off x="3575541" y="365760"/>
            <a:ext cx="6693874" cy="7768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98"/>
              <a:buBlip>
                <a:blip r:embed="rId2"/>
              </a:buBlip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</a:t>
            </a:r>
            <a:r>
              <a:rPr lang="th-TH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ข้อจำกัดต่อเนื่องอีก 3 เรื่อง ด้านการจัดเก็บไฟล์บน </a:t>
            </a:r>
            <a:r>
              <a:rPr lang="en-US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 Cloud </a:t>
            </a:r>
            <a:r>
              <a:rPr lang="th-TH" sz="2000" b="0" i="0" u="none" strike="noStrike" kern="120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ขนาดข้อมูล และการทำงานพร้อมกันของผู้ใช้หลายคน</a:t>
            </a:r>
            <a:endParaRPr lang="en-US" sz="2000" b="0" i="0" u="none" strike="noStrike" kern="1200" cap="none" spc="0" baseline="0">
              <a:solidFill>
                <a:srgbClr val="0072CB"/>
              </a:solidFill>
              <a:uFillTx/>
              <a:latin typeface="Prompt Medium" pitchFamily="2"/>
              <a:cs typeface="Prompt Medium" pitchFamily="2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7E5C340B-C197-4E65-824C-B9BB4F7728BD}"/>
              </a:ext>
            </a:extLst>
          </p:cNvPr>
          <p:cNvSpPr/>
          <p:nvPr/>
        </p:nvSpPr>
        <p:spPr>
          <a:xfrm>
            <a:off x="457200" y="1417320"/>
            <a:ext cx="3611523" cy="49735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1D223323-A0B6-4A52-A872-3A4267B4F56D}"/>
              </a:ext>
            </a:extLst>
          </p:cNvPr>
          <p:cNvSpPr/>
          <p:nvPr/>
        </p:nvSpPr>
        <p:spPr>
          <a:xfrm>
            <a:off x="6858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CEEFC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88DCDE1-38BA-4D52-825D-A2C5C3EA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11">
            <a:extLst>
              <a:ext uri="{FF2B5EF4-FFF2-40B4-BE49-F238E27FC236}">
                <a16:creationId xmlns:a16="http://schemas.microsoft.com/office/drawing/2014/main" id="{AFAAF5B8-BDD0-46FA-A6BB-AD03115E856A}"/>
              </a:ext>
            </a:extLst>
          </p:cNvPr>
          <p:cNvSpPr/>
          <p:nvPr/>
        </p:nvSpPr>
        <p:spPr>
          <a:xfrm>
            <a:off x="13258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การจัดเก็บไฟล์บน 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Cloud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CD2249C6-8AB5-4A51-B60E-E81717235335}"/>
              </a:ext>
            </a:extLst>
          </p:cNvPr>
          <p:cNvSpPr/>
          <p:nvPr/>
        </p:nvSpPr>
        <p:spPr>
          <a:xfrm>
            <a:off x="7772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การเชื่อมต่อ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SharePoint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ของ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Lotus’s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ยังอยู่ในขั้นศึกษาข้อมูลเพิ่มเติม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 pitchFamily="34"/>
              <a:cs typeface="Lotuss Smart HL" pitchFamily="2"/>
            </a:endParaRPr>
          </a:p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ไฟล์ที่อัปโหลดเก็บอยู่บน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local server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เท่านั้น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 pitchFamily="34"/>
              <a:cs typeface="Lotuss Smart HL" pitchFamily="2"/>
            </a:endParaRPr>
          </a:p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ยังแชร์หรือเข้าถึงข้ามเครื่องแบบอัตโนมัติไม่ได้</a:t>
            </a:r>
          </a:p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ยังไม่มี 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Plan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ในการสร้าง 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Database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เพื่อรองรับ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 Program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เนื่องจากไม่สามารถเข้าถึง 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server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ของ 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Lotus’s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ได้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ea typeface="Calibri" pitchFamily="34"/>
              <a:cs typeface="Lotuss Smart HL" pitchFamily="2"/>
            </a:endParaRP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D77E84E3-977B-4895-86A9-2076F10BF1A5}"/>
              </a:ext>
            </a:extLst>
          </p:cNvPr>
          <p:cNvSpPr/>
          <p:nvPr/>
        </p:nvSpPr>
        <p:spPr>
          <a:xfrm>
            <a:off x="4343400" y="1417320"/>
            <a:ext cx="3611523" cy="454615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5D57B4D1-5612-455A-A173-C4E043581C15}"/>
              </a:ext>
            </a:extLst>
          </p:cNvPr>
          <p:cNvSpPr/>
          <p:nvPr/>
        </p:nvSpPr>
        <p:spPr>
          <a:xfrm>
            <a:off x="45720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BF1DF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626F5403-1F0D-46D1-B393-D302AED2C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7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Text 15">
            <a:extLst>
              <a:ext uri="{FF2B5EF4-FFF2-40B4-BE49-F238E27FC236}">
                <a16:creationId xmlns:a16="http://schemas.microsoft.com/office/drawing/2014/main" id="{D1558850-DDA5-4BFC-A998-7B55475C1E5B}"/>
              </a:ext>
            </a:extLst>
          </p:cNvPr>
          <p:cNvSpPr/>
          <p:nvPr/>
        </p:nvSpPr>
        <p:spPr>
          <a:xfrm>
            <a:off x="52120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ข้อมูลขนาดใหญ่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DB24E9D8-A106-4E1C-BA3E-941709E93BD0}"/>
              </a:ext>
            </a:extLst>
          </p:cNvPr>
          <p:cNvSpPr/>
          <p:nvPr/>
        </p:nvSpPr>
        <p:spPr>
          <a:xfrm>
            <a:off x="46634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ไฟล์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CSV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ต้นฉบับมีขนาดเกินขีดจำกัดที่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GitHub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รองรับ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เก็บคู่กับซอร์สโค้ดใน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version control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ไม่ได้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ต้องแจกไฟล์ผ่านอีกช่องทางแยกหาก เพิ่มความเสี่ยงข้อมูลไม่ตรงกัน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2D12AAB6-022F-4274-86E4-0D92339F3822}"/>
              </a:ext>
            </a:extLst>
          </p:cNvPr>
          <p:cNvSpPr/>
          <p:nvPr/>
        </p:nvSpPr>
        <p:spPr>
          <a:xfrm>
            <a:off x="8229600" y="1417320"/>
            <a:ext cx="3611523" cy="454615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0E3BF981-27FE-4324-8A75-C808A300EADA}"/>
              </a:ext>
            </a:extLst>
          </p:cNvPr>
          <p:cNvSpPr/>
          <p:nvPr/>
        </p:nvSpPr>
        <p:spPr>
          <a:xfrm>
            <a:off x="84582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F7F1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1B971908-41D8-4E39-BDCA-4F7659ACB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9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 19">
            <a:extLst>
              <a:ext uri="{FF2B5EF4-FFF2-40B4-BE49-F238E27FC236}">
                <a16:creationId xmlns:a16="http://schemas.microsoft.com/office/drawing/2014/main" id="{0969E56F-4E4E-4088-8EF9-A2060D85ADD5}"/>
              </a:ext>
            </a:extLst>
          </p:cNvPr>
          <p:cNvSpPr/>
          <p:nvPr/>
        </p:nvSpPr>
        <p:spPr>
          <a:xfrm>
            <a:off x="90982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การทำงานพร้อมกันของผู้ใช้หลายคน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93F3BDA9-AF49-41A3-93E3-2A3DD0949234}"/>
              </a:ext>
            </a:extLst>
          </p:cNvPr>
          <p:cNvSpPr/>
          <p:nvPr/>
        </p:nvSpPr>
        <p:spPr>
          <a:xfrm>
            <a:off x="85496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Streamlit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แยก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session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ของผู้ใช้แต่ละคนออกจากกัน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ข้อมูลที่แต่ละคนเห็นอาจไม่ตรงกันในเวลาเดียวกัน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ต้องรอแอดมิน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pin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ไฟล์ผ่าน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shared snapshot </a:t>
            </a:r>
            <a:r>
              <a:rPr lang="th-TH" sz="1800" b="0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ก่อนทุกคนจะเห็นตรงกัน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CB7AB8E-CA80-40EF-A3A2-2C3152FC19CB}"/>
              </a:ext>
            </a:extLst>
          </p:cNvPr>
          <p:cNvSpPr txBox="1"/>
          <p:nvPr/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FBB215"/>
                </a:solidFill>
                <a:uFillTx/>
                <a:latin typeface="Prompt" pitchFamily="2"/>
                <a:cs typeface="Prompt" pitchFamily="2"/>
              </a:rPr>
              <a:t>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78CD6FB-C0AB-427A-A0B6-3B39B5B21792}"/>
              </a:ext>
            </a:extLst>
          </p:cNvPr>
          <p:cNvSpPr/>
          <p:nvPr/>
        </p:nvSpPr>
        <p:spPr>
          <a:xfrm>
            <a:off x="3840123" y="467139"/>
            <a:ext cx="6693874" cy="7768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98"/>
              <a:buBlip>
                <a:blip r:embed="rId2"/>
              </a:buBlip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0" cap="none" spc="0" baseline="0">
                <a:solidFill>
                  <a:srgbClr val="0072CB"/>
                </a:solidFill>
                <a:uFillTx/>
                <a:latin typeface="Prompt Medium" pitchFamily="2"/>
                <a:cs typeface="Prompt Medium" pitchFamily="2"/>
              </a:rPr>
              <a:t> ปัญหาและความท้าทายระหว่างการพัฒนา</a:t>
            </a:r>
          </a:p>
          <a:p>
            <a: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98"/>
              <a:buBlip>
                <a:blip r:embed="rId2"/>
              </a:buBlip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000" b="0" i="0" u="none" strike="noStrike" kern="1200" cap="none" spc="0" baseline="0">
              <a:solidFill>
                <a:srgbClr val="0072CB"/>
              </a:solidFill>
              <a:uFillTx/>
              <a:latin typeface="Prompt Medium" pitchFamily="2"/>
              <a:cs typeface="Prompt Medium" pitchFamily="2"/>
            </a:endParaRP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D2650ECE-C56D-4B85-82F4-B20AAFEA2523}"/>
              </a:ext>
            </a:extLst>
          </p:cNvPr>
          <p:cNvSpPr/>
          <p:nvPr/>
        </p:nvSpPr>
        <p:spPr>
          <a:xfrm>
            <a:off x="457200" y="1417320"/>
            <a:ext cx="3611523" cy="454615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4EAF1CCC-BCE3-41E0-A06D-7542963A7BEA}"/>
              </a:ext>
            </a:extLst>
          </p:cNvPr>
          <p:cNvSpPr/>
          <p:nvPr/>
        </p:nvSpPr>
        <p:spPr>
          <a:xfrm>
            <a:off x="6858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CEEFC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D46E5C5-C727-49FC-8FF5-41D1A5014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98" y="1764718"/>
            <a:ext cx="264956" cy="2649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11">
            <a:extLst>
              <a:ext uri="{FF2B5EF4-FFF2-40B4-BE49-F238E27FC236}">
                <a16:creationId xmlns:a16="http://schemas.microsoft.com/office/drawing/2014/main" id="{35A35A11-0AB0-458F-9D99-E5920D67E337}"/>
              </a:ext>
            </a:extLst>
          </p:cNvPr>
          <p:cNvSpPr/>
          <p:nvPr/>
        </p:nvSpPr>
        <p:spPr>
          <a:xfrm>
            <a:off x="1325880" y="1764718"/>
            <a:ext cx="2389802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เ</a:t>
            </a: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ครื่องมือไม่เหมาะกับงาน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BD02CCB0-1268-4569-B4B1-4508D11F76BE}"/>
              </a:ext>
            </a:extLst>
          </p:cNvPr>
          <p:cNvSpPr/>
          <p:nvPr/>
        </p:nvSpPr>
        <p:spPr>
          <a:xfrm>
            <a:off x="7772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285750" marR="0" lvl="0" indent="-285750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Streamlit ถูกออกแบบมาสำหรับ dashboard ง่ายๆ แต่ business ของเรามี requirement ซับซ้อนและเพิ่มขึ้นทุกสัปดาห์ ทำให้ต้องฝัง HTML/CSS/JS ลงใน Python โดยตรง ขัดกับ framework และเสียเวลามากกว่าการใช้ stack ที่เหมาะสม</a:t>
            </a: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3739FE4C-E531-468A-A1E4-4448BA12094B}"/>
              </a:ext>
            </a:extLst>
          </p:cNvPr>
          <p:cNvSpPr/>
          <p:nvPr/>
        </p:nvSpPr>
        <p:spPr>
          <a:xfrm>
            <a:off x="4343400" y="1417320"/>
            <a:ext cx="3611523" cy="454615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0DAF8426-05F2-4F0D-9D54-EAEA6961C28B}"/>
              </a:ext>
            </a:extLst>
          </p:cNvPr>
          <p:cNvSpPr/>
          <p:nvPr/>
        </p:nvSpPr>
        <p:spPr>
          <a:xfrm>
            <a:off x="4572000" y="1645920"/>
            <a:ext cx="502563" cy="50256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BF1DF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0" name="Shape 17">
            <a:extLst>
              <a:ext uri="{FF2B5EF4-FFF2-40B4-BE49-F238E27FC236}">
                <a16:creationId xmlns:a16="http://schemas.microsoft.com/office/drawing/2014/main" id="{2E5ABB04-CAEF-43B8-AFA4-94DDD1A7653B}"/>
              </a:ext>
            </a:extLst>
          </p:cNvPr>
          <p:cNvSpPr/>
          <p:nvPr/>
        </p:nvSpPr>
        <p:spPr>
          <a:xfrm>
            <a:off x="8229600" y="1417320"/>
            <a:ext cx="3611523" cy="454615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54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w="12701" cap="flat">
            <a:solidFill>
              <a:srgbClr val="DDE1F5"/>
            </a:solidFill>
            <a:prstDash val="solid"/>
            <a:round/>
          </a:ln>
          <a:effectLst>
            <a:outerShdw dist="25557" dir="5400000" algn="tl">
              <a:srgbClr val="000000">
                <a:alpha val="6000"/>
              </a:srgbClr>
            </a:outerShdw>
          </a:effectLst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BF29C3F9-92EC-42F6-8893-4FE5A73A84EC}"/>
              </a:ext>
            </a:extLst>
          </p:cNvPr>
          <p:cNvSpPr/>
          <p:nvPr/>
        </p:nvSpPr>
        <p:spPr>
          <a:xfrm>
            <a:off x="13350240" y="-1710001"/>
            <a:ext cx="45720" cy="457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AF7F1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5E5D0668-0E47-46A8-A569-E613676AB98E}"/>
              </a:ext>
            </a:extLst>
          </p:cNvPr>
          <p:cNvSpPr/>
          <p:nvPr/>
        </p:nvSpPr>
        <p:spPr>
          <a:xfrm>
            <a:off x="90982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</a:tabLs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หมายเหตุ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8B49D67F-4748-4288-B141-89B4FAC34299}"/>
              </a:ext>
            </a:extLst>
          </p:cNvPr>
          <p:cNvSpPr/>
          <p:nvPr/>
        </p:nvSpPr>
        <p:spPr>
          <a:xfrm>
            <a:off x="85496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การเปลี่ยน stack ณ ตอนนี้จะเสียเวลามากเกินไป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99CFC50-B94A-4AC0-9D4C-59A0588E91DF}"/>
              </a:ext>
            </a:extLst>
          </p:cNvPr>
          <p:cNvSpPr txBox="1"/>
          <p:nvPr/>
        </p:nvSpPr>
        <p:spPr>
          <a:xfrm>
            <a:off x="838203" y="365129"/>
            <a:ext cx="3230520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1200" cap="none" spc="0" baseline="0">
                <a:solidFill>
                  <a:srgbClr val="FBB215"/>
                </a:solidFill>
                <a:uFillTx/>
                <a:latin typeface="Prompt" pitchFamily="2"/>
                <a:cs typeface="Prompt" pitchFamily="2"/>
              </a:rPr>
              <a:t>DIFFICULTIES 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2090CE9-857E-4B6F-9CC8-19D6D56FD927}"/>
              </a:ext>
            </a:extLst>
          </p:cNvPr>
          <p:cNvSpPr/>
          <p:nvPr/>
        </p:nvSpPr>
        <p:spPr>
          <a:xfrm>
            <a:off x="5212080" y="1618561"/>
            <a:ext cx="2514243" cy="5482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ส่งงานไม่ทันตาม</a:t>
            </a:r>
            <a:r>
              <a:rPr lang="th-TH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ที่แพลนไว้ใน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ไทม์ไลน์</a:t>
            </a: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5398D1CB-2C56-45C5-A549-0F5A33B919AD}"/>
              </a:ext>
            </a:extLst>
          </p:cNvPr>
          <p:cNvSpPr/>
          <p:nvPr/>
        </p:nvSpPr>
        <p:spPr>
          <a:xfrm>
            <a:off x="4663440" y="2286000"/>
            <a:ext cx="2971443" cy="329148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177841" marR="0" lvl="0" indent="-177841" algn="l" defTabSz="914400" rtl="0" fontAlgn="auto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>
                <a:srgbClr val="6B728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เนื่องจากปัญหาข้างต้น 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จึงทำให้</a:t>
            </a: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งาน</a:t>
            </a:r>
            <a:r>
              <a:rPr lang="th-TH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ต้อง</a:t>
            </a: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ใช้เวลา</a:t>
            </a:r>
            <a:r>
              <a:rPr lang="th-TH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ในการแก้ไข</a:t>
            </a:r>
            <a:r>
              <a:rPr lang="en-US" sz="1800" b="1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นานกว่าที่ประเมินไว้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 แม้จะทำงานนอกเวลาและนำ AI มาช่วยเขียนโค้ด ก็ยังไม่สามารถทำให้ครบตามกรอบเวลาได้ ไทม์ไลน์ยัง</a:t>
            </a:r>
            <a:r>
              <a:rPr lang="th-TH" sz="1800" b="0" i="0" u="none" strike="noStrike" kern="0" cap="none" spc="0" baseline="0">
                <a:solidFill>
                  <a:srgbClr val="000000"/>
                </a:solidFill>
                <a:uFillTx/>
                <a:latin typeface="Lotuss Smart HL" pitchFamily="2"/>
                <a:cs typeface="Lotuss Smart HL" pitchFamily="2"/>
              </a:rPr>
              <a:t>ค่อนข้างจำกัด</a:t>
            </a:r>
            <a:endParaRPr lang="en-US" sz="1800" b="0" i="0" u="none" strike="noStrike" kern="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17" name="Picture 2" descr="Clock - Free time and date icons">
            <a:extLst>
              <a:ext uri="{FF2B5EF4-FFF2-40B4-BE49-F238E27FC236}">
                <a16:creationId xmlns:a16="http://schemas.microsoft.com/office/drawing/2014/main" id="{6581D114-B25F-49A6-AB82-6DF91DEED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84516" y="1748945"/>
            <a:ext cx="289919" cy="2899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6" descr="Notes transparent background logo">
            <a:extLst>
              <a:ext uri="{FF2B5EF4-FFF2-40B4-BE49-F238E27FC236}">
                <a16:creationId xmlns:a16="http://schemas.microsoft.com/office/drawing/2014/main" id="{CADCA729-8279-440B-83F2-36A8DEE495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549640" y="1764718"/>
            <a:ext cx="289919" cy="28991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2B0531D-1547-4FD6-8D19-7F6881578B43}"/>
              </a:ext>
            </a:extLst>
          </p:cNvPr>
          <p:cNvSpPr/>
          <p:nvPr/>
        </p:nvSpPr>
        <p:spPr>
          <a:xfrm>
            <a:off x="365760" y="347472"/>
            <a:ext cx="6400800" cy="3474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FFFFFF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Workflow &amp; Feature Inventory</a:t>
            </a:r>
            <a:endParaRPr lang="en-US" sz="3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A570B54-1045-4180-B106-862E83A44B9A}"/>
              </a:ext>
            </a:extLst>
          </p:cNvPr>
          <p:cNvSpPr/>
          <p:nvPr/>
        </p:nvSpPr>
        <p:spPr>
          <a:xfrm>
            <a:off x="7828946" y="247006"/>
            <a:ext cx="1184788" cy="4642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2ECC71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✅ Implemented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ACE854C-A5AA-41D2-9F80-8501539D2953}"/>
              </a:ext>
            </a:extLst>
          </p:cNvPr>
          <p:cNvSpPr/>
          <p:nvPr/>
        </p:nvSpPr>
        <p:spPr>
          <a:xfrm>
            <a:off x="8915400" y="331268"/>
            <a:ext cx="777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F39C12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⚠️ Partial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265C98B-9E66-4E49-9DB6-0337A607F428}"/>
              </a:ext>
            </a:extLst>
          </p:cNvPr>
          <p:cNvSpPr/>
          <p:nvPr/>
        </p:nvSpPr>
        <p:spPr>
          <a:xfrm>
            <a:off x="9641707" y="331268"/>
            <a:ext cx="777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E74C3C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❌ Planned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3FF1E06-8EF9-4154-BDEC-163778450DE5}"/>
              </a:ext>
            </a:extLst>
          </p:cNvPr>
          <p:cNvSpPr/>
          <p:nvPr/>
        </p:nvSpPr>
        <p:spPr>
          <a:xfrm>
            <a:off x="645328" y="1105847"/>
            <a:ext cx="2427896" cy="232315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09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0962346-CFEB-4131-88E7-E6949C6B957D}"/>
              </a:ext>
            </a:extLst>
          </p:cNvPr>
          <p:cNvSpPr/>
          <p:nvPr/>
        </p:nvSpPr>
        <p:spPr>
          <a:xfrm>
            <a:off x="2606323" y="1234760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80B67C2B-C11D-43AA-87E0-1A434609D8A8}"/>
              </a:ext>
            </a:extLst>
          </p:cNvPr>
          <p:cNvSpPr/>
          <p:nvPr/>
        </p:nvSpPr>
        <p:spPr>
          <a:xfrm>
            <a:off x="953179" y="1197287"/>
            <a:ext cx="1660303" cy="329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1. Authentication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B4D8A16-0032-4EB8-A92C-631B10F9C6DF}"/>
              </a:ext>
            </a:extLst>
          </p:cNvPr>
          <p:cNvSpPr/>
          <p:nvPr/>
        </p:nvSpPr>
        <p:spPr>
          <a:xfrm>
            <a:off x="987552" y="1563047"/>
            <a:ext cx="175564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D5CD149D-EC14-42D8-8DF5-4BB1977825B3}"/>
              </a:ext>
            </a:extLst>
          </p:cNvPr>
          <p:cNvSpPr/>
          <p:nvPr/>
        </p:nvSpPr>
        <p:spPr>
          <a:xfrm>
            <a:off x="953179" y="1563047"/>
            <a:ext cx="1755648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Employee ID + Password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Local &amp; SharePoint (M365)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Admin / Viewer roles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Permission enforcement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412806F-590E-4FD8-A143-DD7FB719BF0E}"/>
              </a:ext>
            </a:extLst>
          </p:cNvPr>
          <p:cNvSpPr/>
          <p:nvPr/>
        </p:nvSpPr>
        <p:spPr>
          <a:xfrm>
            <a:off x="3329376" y="1116089"/>
            <a:ext cx="2427896" cy="232315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09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28B67E2-B23F-44EE-9416-E43992268605}"/>
              </a:ext>
            </a:extLst>
          </p:cNvPr>
          <p:cNvSpPr/>
          <p:nvPr/>
        </p:nvSpPr>
        <p:spPr>
          <a:xfrm>
            <a:off x="5170630" y="1236378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6BB5DF4-83AD-41DD-88FB-FA385164B450}"/>
              </a:ext>
            </a:extLst>
          </p:cNvPr>
          <p:cNvSpPr/>
          <p:nvPr/>
        </p:nvSpPr>
        <p:spPr>
          <a:xfrm>
            <a:off x="3637227" y="1207529"/>
            <a:ext cx="15087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2. File Upload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C48F76F-862E-496A-9C1F-6DF0B5C645CF}"/>
              </a:ext>
            </a:extLst>
          </p:cNvPr>
          <p:cNvSpPr/>
          <p:nvPr/>
        </p:nvSpPr>
        <p:spPr>
          <a:xfrm>
            <a:off x="3650357" y="1577614"/>
            <a:ext cx="175564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066BE5F-8794-460A-86A3-8DA780FC6832}"/>
              </a:ext>
            </a:extLst>
          </p:cNvPr>
          <p:cNvSpPr/>
          <p:nvPr/>
        </p:nvSpPr>
        <p:spPr>
          <a:xfrm>
            <a:off x="3635096" y="1669264"/>
            <a:ext cx="1755648" cy="14053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CSV / XLSX upload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Auto-merge by header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Duplicate detection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Admin file pinning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887CE6F-218C-4194-8C34-C24162D12C47}"/>
              </a:ext>
            </a:extLst>
          </p:cNvPr>
          <p:cNvSpPr/>
          <p:nvPr/>
        </p:nvSpPr>
        <p:spPr>
          <a:xfrm>
            <a:off x="5988058" y="1105847"/>
            <a:ext cx="2427896" cy="232315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09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B3EDABB-99EC-4922-9A69-889ECFA34742}"/>
              </a:ext>
            </a:extLst>
          </p:cNvPr>
          <p:cNvSpPr/>
          <p:nvPr/>
        </p:nvSpPr>
        <p:spPr>
          <a:xfrm>
            <a:off x="7869536" y="1261295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7D5A04C6-D2E6-4829-A299-24C83F779993}"/>
              </a:ext>
            </a:extLst>
          </p:cNvPr>
          <p:cNvSpPr/>
          <p:nvPr/>
        </p:nvSpPr>
        <p:spPr>
          <a:xfrm>
            <a:off x="6260174" y="1234897"/>
            <a:ext cx="150876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3. View Data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34EC6A9-BD94-4B33-9A38-DBC0D3B31F44}"/>
              </a:ext>
            </a:extLst>
          </p:cNvPr>
          <p:cNvSpPr/>
          <p:nvPr/>
        </p:nvSpPr>
        <p:spPr>
          <a:xfrm>
            <a:off x="6308024" y="1577614"/>
            <a:ext cx="175564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4CAD49A2-35A9-42B8-B8F5-CACE6275B141}"/>
              </a:ext>
            </a:extLst>
          </p:cNvPr>
          <p:cNvSpPr/>
          <p:nvPr/>
        </p:nvSpPr>
        <p:spPr>
          <a:xfrm>
            <a:off x="6260174" y="1669264"/>
            <a:ext cx="1883664" cy="14053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Filter by DG/Cluster/Format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POG Pivot Table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Chunked HDET processing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Submit to Report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5A2B7E15-9437-4CA1-BFA9-FD5BB88E4EFF}"/>
              </a:ext>
            </a:extLst>
          </p:cNvPr>
          <p:cNvSpPr/>
          <p:nvPr/>
        </p:nvSpPr>
        <p:spPr>
          <a:xfrm>
            <a:off x="8646730" y="1105847"/>
            <a:ext cx="2924516" cy="2323152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309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DF5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C444E19E-3710-44B1-A4B2-B23F60CC3B40}"/>
              </a:ext>
            </a:extLst>
          </p:cNvPr>
          <p:cNvSpPr/>
          <p:nvPr/>
        </p:nvSpPr>
        <p:spPr>
          <a:xfrm>
            <a:off x="11078852" y="1255471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39C1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CC00983-3E28-4188-B077-E6BE9658113C}"/>
              </a:ext>
            </a:extLst>
          </p:cNvPr>
          <p:cNvSpPr/>
          <p:nvPr/>
        </p:nvSpPr>
        <p:spPr>
          <a:xfrm>
            <a:off x="8919313" y="1237676"/>
            <a:ext cx="192024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4. Validation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168D516-F911-41BD-AE64-96D8B03BB000}"/>
              </a:ext>
            </a:extLst>
          </p:cNvPr>
          <p:cNvSpPr/>
          <p:nvPr/>
        </p:nvSpPr>
        <p:spPr>
          <a:xfrm>
            <a:off x="8911724" y="1578592"/>
            <a:ext cx="2167127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8EEEC06-D832-465E-B1F0-987B48269A1E}"/>
              </a:ext>
            </a:extLst>
          </p:cNvPr>
          <p:cNvSpPr/>
          <p:nvPr/>
        </p:nvSpPr>
        <p:spPr>
          <a:xfrm>
            <a:off x="8929362" y="1669264"/>
            <a:ext cx="2428207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Header similarity check ✅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Field-level validation ❌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Manual mapping UI ❌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Auto column matching ✅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F07B1F7-8F95-4ED7-8C2F-2152459A1D45}"/>
              </a:ext>
            </a:extLst>
          </p:cNvPr>
          <p:cNvSpPr/>
          <p:nvPr/>
        </p:nvSpPr>
        <p:spPr>
          <a:xfrm>
            <a:off x="1935007" y="3569442"/>
            <a:ext cx="3626665" cy="214883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08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0C5AF7AB-DA3B-44F0-942D-12FEA2139DA1}"/>
              </a:ext>
            </a:extLst>
          </p:cNvPr>
          <p:cNvSpPr/>
          <p:nvPr/>
        </p:nvSpPr>
        <p:spPr>
          <a:xfrm>
            <a:off x="5092193" y="3753941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0AC436FF-D7C7-4D17-A7D2-865E85048414}"/>
              </a:ext>
            </a:extLst>
          </p:cNvPr>
          <p:cNvSpPr/>
          <p:nvPr/>
        </p:nvSpPr>
        <p:spPr>
          <a:xfrm>
            <a:off x="2173099" y="3755038"/>
            <a:ext cx="2331720" cy="27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5. Range Sheet Review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563B18E8-5169-4739-8F36-C7393D2E9FE6}"/>
              </a:ext>
            </a:extLst>
          </p:cNvPr>
          <p:cNvSpPr/>
          <p:nvPr/>
        </p:nvSpPr>
        <p:spPr>
          <a:xfrm>
            <a:off x="1971583" y="4127738"/>
            <a:ext cx="3358353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64883F5C-99B5-47B7-8789-5F2AD87DFB8B}"/>
              </a:ext>
            </a:extLst>
          </p:cNvPr>
          <p:cNvSpPr/>
          <p:nvPr/>
        </p:nvSpPr>
        <p:spPr>
          <a:xfrm>
            <a:off x="2294110" y="4190247"/>
            <a:ext cx="3174568" cy="1234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📋 Table — Keep/Delete/New/Delist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🏪 Cluster — store counts per cluster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Status auto-derivation engine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Avg Units override per SKU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Save edits as XLSX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31" name="Shape 36">
            <a:extLst>
              <a:ext uri="{FF2B5EF4-FFF2-40B4-BE49-F238E27FC236}">
                <a16:creationId xmlns:a16="http://schemas.microsoft.com/office/drawing/2014/main" id="{745D6CFE-4F03-4F38-B418-4D43C487ECF9}"/>
              </a:ext>
            </a:extLst>
          </p:cNvPr>
          <p:cNvSpPr/>
          <p:nvPr/>
        </p:nvSpPr>
        <p:spPr>
          <a:xfrm>
            <a:off x="5846783" y="3558049"/>
            <a:ext cx="2482102" cy="2139174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08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2" name="Text 38">
            <a:extLst>
              <a:ext uri="{FF2B5EF4-FFF2-40B4-BE49-F238E27FC236}">
                <a16:creationId xmlns:a16="http://schemas.microsoft.com/office/drawing/2014/main" id="{B5161C88-ECB4-40BC-9CDA-C5C6894108D1}"/>
              </a:ext>
            </a:extLst>
          </p:cNvPr>
          <p:cNvSpPr/>
          <p:nvPr/>
        </p:nvSpPr>
        <p:spPr>
          <a:xfrm>
            <a:off x="5974790" y="3728996"/>
            <a:ext cx="1875370" cy="3208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6. Report &amp; Export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33" name="Shape 39">
            <a:extLst>
              <a:ext uri="{FF2B5EF4-FFF2-40B4-BE49-F238E27FC236}">
                <a16:creationId xmlns:a16="http://schemas.microsoft.com/office/drawing/2014/main" id="{97B00B8E-2C00-4C0A-9731-F77D3785EC0E}"/>
              </a:ext>
            </a:extLst>
          </p:cNvPr>
          <p:cNvSpPr/>
          <p:nvPr/>
        </p:nvSpPr>
        <p:spPr>
          <a:xfrm>
            <a:off x="5974790" y="4104037"/>
            <a:ext cx="2173217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4" name="Text 40">
            <a:extLst>
              <a:ext uri="{FF2B5EF4-FFF2-40B4-BE49-F238E27FC236}">
                <a16:creationId xmlns:a16="http://schemas.microsoft.com/office/drawing/2014/main" id="{4CAD9C31-1DD7-4BA2-9C6C-AAA62FD269FD}"/>
              </a:ext>
            </a:extLst>
          </p:cNvPr>
          <p:cNvSpPr/>
          <p:nvPr/>
        </p:nvSpPr>
        <p:spPr>
          <a:xfrm>
            <a:off x="5974790" y="4171392"/>
            <a:ext cx="2173217" cy="144394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7 output types (XLSX)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Item by Store (×2)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Product Library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Citrix Upload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Bulk ZIP export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35" name="Shape 41">
            <a:extLst>
              <a:ext uri="{FF2B5EF4-FFF2-40B4-BE49-F238E27FC236}">
                <a16:creationId xmlns:a16="http://schemas.microsoft.com/office/drawing/2014/main" id="{DE7673D1-BF44-4D2E-83AA-38BB0DB78689}"/>
              </a:ext>
            </a:extLst>
          </p:cNvPr>
          <p:cNvSpPr/>
          <p:nvPr/>
        </p:nvSpPr>
        <p:spPr>
          <a:xfrm>
            <a:off x="8646730" y="3560829"/>
            <a:ext cx="2022643" cy="2148839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1137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6" name="Shape 42">
            <a:extLst>
              <a:ext uri="{FF2B5EF4-FFF2-40B4-BE49-F238E27FC236}">
                <a16:creationId xmlns:a16="http://schemas.microsoft.com/office/drawing/2014/main" id="{FDC23B79-63A1-4A11-9690-331EBAF6CE1C}"/>
              </a:ext>
            </a:extLst>
          </p:cNvPr>
          <p:cNvSpPr/>
          <p:nvPr/>
        </p:nvSpPr>
        <p:spPr>
          <a:xfrm>
            <a:off x="10216097" y="3768123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7" name="Text 43">
            <a:extLst>
              <a:ext uri="{FF2B5EF4-FFF2-40B4-BE49-F238E27FC236}">
                <a16:creationId xmlns:a16="http://schemas.microsoft.com/office/drawing/2014/main" id="{B33E805C-4C9F-42D3-9B65-9D7DE75BDB7E}"/>
              </a:ext>
            </a:extLst>
          </p:cNvPr>
          <p:cNvSpPr/>
          <p:nvPr/>
        </p:nvSpPr>
        <p:spPr>
          <a:xfrm>
            <a:off x="8826721" y="3742063"/>
            <a:ext cx="1477633" cy="24474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1A1A2E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7. Audit Log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38" name="Shape 44">
            <a:extLst>
              <a:ext uri="{FF2B5EF4-FFF2-40B4-BE49-F238E27FC236}">
                <a16:creationId xmlns:a16="http://schemas.microsoft.com/office/drawing/2014/main" id="{566BEF53-5A4A-4E2A-B0F6-326AAC671865}"/>
              </a:ext>
            </a:extLst>
          </p:cNvPr>
          <p:cNvSpPr/>
          <p:nvPr/>
        </p:nvSpPr>
        <p:spPr>
          <a:xfrm>
            <a:off x="8857344" y="4114406"/>
            <a:ext cx="1477633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6345" cap="flat">
            <a:solidFill>
              <a:srgbClr val="E8EAF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9" name="Text 45">
            <a:extLst>
              <a:ext uri="{FF2B5EF4-FFF2-40B4-BE49-F238E27FC236}">
                <a16:creationId xmlns:a16="http://schemas.microsoft.com/office/drawing/2014/main" id="{9B649B01-BA6C-4E36-BAFB-4AA97734847A}"/>
              </a:ext>
            </a:extLst>
          </p:cNvPr>
          <p:cNvSpPr/>
          <p:nvPr/>
        </p:nvSpPr>
        <p:spPr>
          <a:xfrm>
            <a:off x="8693914" y="4199354"/>
            <a:ext cx="1928286" cy="1234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Auto-log all actions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Upload/Edit/Export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Searchable table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4A5568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Export as XLSX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0" name="Shape 46">
            <a:extLst>
              <a:ext uri="{FF2B5EF4-FFF2-40B4-BE49-F238E27FC236}">
                <a16:creationId xmlns:a16="http://schemas.microsoft.com/office/drawing/2014/main" id="{68B2D5ED-BCC1-4957-AE2D-9509C6EEDDB0}"/>
              </a:ext>
            </a:extLst>
          </p:cNvPr>
          <p:cNvSpPr/>
          <p:nvPr/>
        </p:nvSpPr>
        <p:spPr>
          <a:xfrm>
            <a:off x="603504" y="6035040"/>
            <a:ext cx="8732520" cy="475488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4154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0F0"/>
          </a:solidFill>
          <a:ln cap="flat">
            <a:noFill/>
            <a:prstDash val="solid"/>
          </a:ln>
          <a:effectLst>
            <a:outerShdw dist="25396" dir="2700000" algn="tl">
              <a:srgbClr val="000000">
                <a:alpha val="8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1" name="Shape 47">
            <a:extLst>
              <a:ext uri="{FF2B5EF4-FFF2-40B4-BE49-F238E27FC236}">
                <a16:creationId xmlns:a16="http://schemas.microsoft.com/office/drawing/2014/main" id="{3A56501E-4D3F-4EBF-AC24-0E50DC00728D}"/>
              </a:ext>
            </a:extLst>
          </p:cNvPr>
          <p:cNvSpPr/>
          <p:nvPr/>
        </p:nvSpPr>
        <p:spPr>
          <a:xfrm>
            <a:off x="749808" y="6144768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74C3C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 48">
            <a:extLst>
              <a:ext uri="{FF2B5EF4-FFF2-40B4-BE49-F238E27FC236}">
                <a16:creationId xmlns:a16="http://schemas.microsoft.com/office/drawing/2014/main" id="{50E4074E-A2A8-4D7C-B063-EC0B1FF61313}"/>
              </a:ext>
            </a:extLst>
          </p:cNvPr>
          <p:cNvSpPr/>
          <p:nvPr/>
        </p:nvSpPr>
        <p:spPr>
          <a:xfrm>
            <a:off x="1060704" y="6053327"/>
            <a:ext cx="8229600" cy="43891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i="0" u="none" strike="noStrike" kern="1200" cap="none" spc="0" baseline="0">
                <a:solidFill>
                  <a:srgbClr val="C0392B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8. AI Recommendation  </a:t>
            </a:r>
            <a:r>
              <a:rPr lang="en-US" sz="1400" b="0" i="0" u="none" strike="noStrike" kern="1200" cap="none" spc="0" baseline="0">
                <a:solidFill>
                  <a:srgbClr val="C0392B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❌ Not yet implemented  —  </a:t>
            </a:r>
            <a:r>
              <a:rPr lang="en-US" sz="1400" b="0" i="0" u="none" strike="noStrike" kern="1200" cap="none" spc="0" baseline="0">
                <a:solidFill>
                  <a:srgbClr val="8B0000"/>
                </a:solidFill>
                <a:uFillTx/>
                <a:latin typeface="Lotuss Smart HL" pitchFamily="2"/>
                <a:ea typeface="Calibri" pitchFamily="34"/>
                <a:cs typeface="Lotuss Smart HL" pitchFamily="2"/>
              </a:rPr>
              <a:t>Permission key (create_canvas) exists in source code but no AI/ML engine present. Planned for Phase 3.</a:t>
            </a: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480BCA19-8BF8-4D67-8CA6-7C901155F317}"/>
              </a:ext>
            </a:extLst>
          </p:cNvPr>
          <p:cNvSpPr txBox="1"/>
          <p:nvPr/>
        </p:nvSpPr>
        <p:spPr>
          <a:xfrm>
            <a:off x="838203" y="365129"/>
            <a:ext cx="7412739" cy="7230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kern="0" cap="none" spc="0" baseline="0">
                <a:solidFill>
                  <a:srgbClr val="FBB215"/>
                </a:solidFill>
                <a:uFillTx/>
                <a:latin typeface="Prompt" pitchFamily="2"/>
                <a:cs typeface="Prompt" pitchFamily="2"/>
              </a:rPr>
              <a:t>Workflow &amp; Feature Inventory</a:t>
            </a:r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6B93CDB3-CC79-48D7-B8C3-5B31C57C4E0A}"/>
              </a:ext>
            </a:extLst>
          </p:cNvPr>
          <p:cNvSpPr/>
          <p:nvPr/>
        </p:nvSpPr>
        <p:spPr>
          <a:xfrm>
            <a:off x="7806040" y="3777935"/>
            <a:ext cx="237744" cy="237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ECC71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EB84DC3D-3E1F-4B81-9A55-2FA867844F7A}"/>
              </a:ext>
            </a:extLst>
          </p:cNvPr>
          <p:cNvSpPr/>
          <p:nvPr/>
        </p:nvSpPr>
        <p:spPr>
          <a:xfrm>
            <a:off x="-3659776" y="4242523"/>
            <a:ext cx="54361" cy="54361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2F3C9E"/>
          </a:solidFill>
          <a:ln cap="flat">
            <a:noFill/>
            <a:prstDash val="solid"/>
          </a:ln>
        </p:spPr>
        <p:txBody>
          <a:bodyPr vert="horz" wrap="square" lIns="90004" tIns="0" rIns="90004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-1" baseline="0">
              <a:solidFill>
                <a:srgbClr val="FFFFFF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3" name="Picture 3" descr="A screenshot of a project plan">
            <a:extLst>
              <a:ext uri="{FF2B5EF4-FFF2-40B4-BE49-F238E27FC236}">
                <a16:creationId xmlns:a16="http://schemas.microsoft.com/office/drawing/2014/main" id="{7745A96C-39A3-4AF8-ACB4-24516073C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44" y="0"/>
            <a:ext cx="11647517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C9443B04-4628-484F-A977-358CC04A77BF}"/>
              </a:ext>
            </a:extLst>
          </p:cNvPr>
          <p:cNvSpPr txBox="1"/>
          <p:nvPr/>
        </p:nvSpPr>
        <p:spPr>
          <a:xfrm>
            <a:off x="471711" y="533396"/>
            <a:ext cx="5239658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Status </a:t>
            </a:r>
            <a:r>
              <a:rPr lang="en-US" sz="2800" b="1" i="0" u="none" strike="noStrike" kern="0" cap="none" spc="0" baseline="0">
                <a:solidFill>
                  <a:srgbClr val="1A1A1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change logic</a:t>
            </a:r>
            <a:endParaRPr lang="en-US" sz="2800" b="1" i="0" u="none" strike="noStrike" kern="1200" cap="none" spc="0" baseline="0">
              <a:solidFill>
                <a:srgbClr val="1A1A1A"/>
              </a:solidFill>
              <a:uFillTx/>
              <a:latin typeface="Lotuss Smart HL" pitchFamily="2"/>
              <a:ea typeface="Calibri"/>
              <a:cs typeface="Lotuss Smart HL" pitchFamily="2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81B85D1-4FA3-4B7F-BE44-F4E90EE4A376}"/>
              </a:ext>
            </a:extLst>
          </p:cNvPr>
          <p:cNvSpPr txBox="1"/>
          <p:nvPr/>
        </p:nvSpPr>
        <p:spPr>
          <a:xfrm>
            <a:off x="493483" y="1048652"/>
            <a:ext cx="11205030" cy="569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00" b="0" i="0" u="none" strike="noStrike" kern="1200" cap="none" spc="0" baseline="0">
                <a:solidFill>
                  <a:srgbClr val="5F5E5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Every product starts at Maintain. Edits during review </a:t>
            </a:r>
            <a:r>
              <a:rPr lang="en-US" sz="1300" b="0" i="0" u="none" strike="noStrike" kern="0" cap="none" spc="0" baseline="0">
                <a:solidFill>
                  <a:srgbClr val="5F5E5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stores </a:t>
            </a:r>
            <a:r>
              <a:rPr lang="en-US" sz="1300" b="0" i="0" u="none" strike="noStrike" kern="1200" cap="none" spc="0" baseline="0">
                <a:solidFill>
                  <a:srgbClr val="5F5E5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the status, which then updates </a:t>
            </a:r>
            <a:r>
              <a:rPr lang="en-US" sz="1300" b="0" i="0" u="none" strike="noStrike" kern="0" cap="none" spc="0" baseline="0">
                <a:solidFill>
                  <a:srgbClr val="5F5E5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the</a:t>
            </a:r>
            <a:r>
              <a:rPr lang="en-US" sz="1300" b="0" i="0" u="none" strike="noStrike" kern="1200" cap="none" spc="0" baseline="0">
                <a:solidFill>
                  <a:srgbClr val="5F5E5A"/>
                </a:solidFill>
                <a:uFillTx/>
                <a:latin typeface="Lotuss Smart HL" pitchFamily="2"/>
                <a:ea typeface="Calibri"/>
                <a:cs typeface="Lotuss Smart HL" pitchFamily="2"/>
              </a:rPr>
              <a:t> outputs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4B266C7-643C-44AB-AD70-79DEB927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01" b="-116"/>
          <a:stretch>
            <a:fillRect/>
          </a:stretch>
        </p:blipFill>
        <p:spPr>
          <a:xfrm>
            <a:off x="297545" y="1497631"/>
            <a:ext cx="11117942" cy="492925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2FCC94-F69A-45DB-8B3E-0101283EA84D}"/>
              </a:ext>
            </a:extLst>
          </p:cNvPr>
          <p:cNvSpPr txBox="1"/>
          <p:nvPr/>
        </p:nvSpPr>
        <p:spPr>
          <a:xfrm>
            <a:off x="471711" y="0"/>
            <a:ext cx="6096003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3600" b="1" i="0" u="none" strike="noStrike" kern="1200" cap="none" spc="0" baseline="0">
                <a:solidFill>
                  <a:srgbClr val="FBB215"/>
                </a:solidFill>
                <a:uFillTx/>
                <a:latin typeface="Lotuss Smart HL" pitchFamily="2"/>
                <a:cs typeface="Lotuss Smart HL" pitchFamily="2"/>
              </a:rPr>
              <a:t>PHASE 2 RANGESHEET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3584BEFB-51DD-4931-ACA3-8F356545645A}"/>
              </a:ext>
            </a:extLst>
          </p:cNvPr>
          <p:cNvSpPr txBox="1"/>
          <p:nvPr/>
        </p:nvSpPr>
        <p:spPr>
          <a:xfrm>
            <a:off x="326568" y="356323"/>
            <a:ext cx="609600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th-TH" sz="3600" b="1" i="0" u="none" strike="noStrike" kern="1200" cap="none" spc="0" baseline="0">
                <a:solidFill>
                  <a:srgbClr val="FBB215"/>
                </a:solidFill>
                <a:uFillTx/>
                <a:latin typeface="Lotuss Smart HL" pitchFamily="2"/>
                <a:cs typeface="Lotuss Smart HL" pitchFamily="2"/>
              </a:rPr>
              <a:t>PHASE 3 APPLY AI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otuss Smart HL" pitchFamily="2"/>
              <a:cs typeface="Lotuss Smart HL" pitchFamily="2"/>
            </a:endParaRPr>
          </a:p>
        </p:txBody>
      </p:sp>
      <p:pic>
        <p:nvPicPr>
          <p:cNvPr id="3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3A24B0-1216-42CA-A4D3-06312CF3C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4" y="1002657"/>
            <a:ext cx="11836405" cy="407743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6A29D1-7E37-45E8-8246-E950ACB6B933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A47B9-5F73-4C22-B12A-8C155D268B92}"/>
              </a:ext>
            </a:extLst>
          </p:cNvPr>
          <p:cNvSpPr txBox="1"/>
          <p:nvPr/>
        </p:nvSpPr>
        <p:spPr>
          <a:xfrm>
            <a:off x="482600" y="3810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AI IN DEVELOPMENT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F8FDE-3FAC-402D-B881-D22E5A7EE4CA}"/>
              </a:ext>
            </a:extLst>
          </p:cNvPr>
          <p:cNvSpPr txBox="1"/>
          <p:nvPr/>
        </p:nvSpPr>
        <p:spPr>
          <a:xfrm>
            <a:off x="482600" y="787400"/>
            <a:ext cx="876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11827"/>
                </a:solidFill>
                <a:latin typeface="Aptos"/>
              </a:rPr>
              <a:t>AI made delivery possible within limited time and real business complexity.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C6662-0DDE-4B4D-B675-3D4BE04E0C83}"/>
              </a:ext>
            </a:extLst>
          </p:cNvPr>
          <p:cNvSpPr txBox="1"/>
          <p:nvPr/>
        </p:nvSpPr>
        <p:spPr>
          <a:xfrm>
            <a:off x="508000" y="1549400"/>
            <a:ext cx="876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4B5563"/>
                </a:solidFill>
                <a:latin typeface="Aptos"/>
              </a:rPr>
              <a:t>Manual coding alone would not have been enough because the app handles real range data, large files, connected tables, business rules, reports, roles, audit logs, and exports.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EC338A-7753-44AD-A554-406D1CB0A801}"/>
              </a:ext>
            </a:extLst>
          </p:cNvPr>
          <p:cNvSpPr/>
          <p:nvPr/>
        </p:nvSpPr>
        <p:spPr>
          <a:xfrm>
            <a:off x="6096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F21248-2F8E-4959-908A-C150233DC928}"/>
              </a:ext>
            </a:extLst>
          </p:cNvPr>
          <p:cNvSpPr/>
          <p:nvPr/>
        </p:nvSpPr>
        <p:spPr>
          <a:xfrm>
            <a:off x="609600" y="23876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FF0A0-BD02-4BC4-A24A-281A203AEB9B}"/>
              </a:ext>
            </a:extLst>
          </p:cNvPr>
          <p:cNvSpPr txBox="1"/>
          <p:nvPr/>
        </p:nvSpPr>
        <p:spPr>
          <a:xfrm>
            <a:off x="8128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Limited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5FA06-B0B2-417E-A936-10E2BE2CDAF7}"/>
              </a:ext>
            </a:extLst>
          </p:cNvPr>
          <p:cNvSpPr txBox="1"/>
          <p:nvPr/>
        </p:nvSpPr>
        <p:spPr>
          <a:xfrm>
            <a:off x="812800" y="29210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The development window was short, while the system scope kept expanding from table review into chatbot, reports, exports, and login roles.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748D3C-C41B-49C0-B8F4-53A19F296CC2}"/>
              </a:ext>
            </a:extLst>
          </p:cNvPr>
          <p:cNvSpPr/>
          <p:nvPr/>
        </p:nvSpPr>
        <p:spPr>
          <a:xfrm>
            <a:off x="34417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643FC-AAFF-4B73-AA03-D6095BB0EAED}"/>
              </a:ext>
            </a:extLst>
          </p:cNvPr>
          <p:cNvSpPr/>
          <p:nvPr/>
        </p:nvSpPr>
        <p:spPr>
          <a:xfrm>
            <a:off x="3441700" y="23876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AAF272-005F-4153-8B41-BC671436DE0B}"/>
              </a:ext>
            </a:extLst>
          </p:cNvPr>
          <p:cNvSpPr txBox="1"/>
          <p:nvPr/>
        </p:nvSpPr>
        <p:spPr>
          <a:xfrm>
            <a:off x="36449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Real data scale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B32D25-22F3-46B4-B814-5F4855C65B12}"/>
              </a:ext>
            </a:extLst>
          </p:cNvPr>
          <p:cNvSpPr txBox="1"/>
          <p:nvPr/>
        </p:nvSpPr>
        <p:spPr>
          <a:xfrm>
            <a:off x="36449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Large CSV and parquet data created performance issues that are not visible in small classroom examples.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1E07B3-BBC7-4080-A79D-46FEAE4FA070}"/>
              </a:ext>
            </a:extLst>
          </p:cNvPr>
          <p:cNvSpPr/>
          <p:nvPr/>
        </p:nvSpPr>
        <p:spPr>
          <a:xfrm>
            <a:off x="62738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9F2177-54E9-444A-AE61-CFDC3A354056}"/>
              </a:ext>
            </a:extLst>
          </p:cNvPr>
          <p:cNvSpPr/>
          <p:nvPr/>
        </p:nvSpPr>
        <p:spPr>
          <a:xfrm>
            <a:off x="6273800" y="23876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ADDAB9-1646-42A9-B175-1AF2F10283C1}"/>
              </a:ext>
            </a:extLst>
          </p:cNvPr>
          <p:cNvSpPr txBox="1"/>
          <p:nvPr/>
        </p:nvSpPr>
        <p:spPr>
          <a:xfrm>
            <a:off x="64770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Business logic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68E7D2-B460-488C-81D1-8019D8757844}"/>
              </a:ext>
            </a:extLst>
          </p:cNvPr>
          <p:cNvSpPr txBox="1"/>
          <p:nvPr/>
        </p:nvSpPr>
        <p:spPr>
          <a:xfrm>
            <a:off x="6477000" y="29210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Every dropdown change had to connect to status, cluster table, range architecture, autosave, report, and audit log.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CFADA8-F7B2-4E1E-BC95-912089CB1F0E}"/>
              </a:ext>
            </a:extLst>
          </p:cNvPr>
          <p:cNvSpPr/>
          <p:nvPr/>
        </p:nvSpPr>
        <p:spPr>
          <a:xfrm>
            <a:off x="6096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77263F-8B13-4321-AD1A-54B1286F66C8}"/>
              </a:ext>
            </a:extLst>
          </p:cNvPr>
          <p:cNvSpPr/>
          <p:nvPr/>
        </p:nvSpPr>
        <p:spPr>
          <a:xfrm>
            <a:off x="609600" y="38608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51B6D-E1DF-460D-A982-F4D364F21021}"/>
              </a:ext>
            </a:extLst>
          </p:cNvPr>
          <p:cNvSpPr txBox="1"/>
          <p:nvPr/>
        </p:nvSpPr>
        <p:spPr>
          <a:xfrm>
            <a:off x="8128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Unexpected problems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0F183-2A84-405D-85AC-45DC0C8DE725}"/>
              </a:ext>
            </a:extLst>
          </p:cNvPr>
          <p:cNvSpPr txBox="1"/>
          <p:nvPr/>
        </p:nvSpPr>
        <p:spPr>
          <a:xfrm>
            <a:off x="812800" y="4394200"/>
            <a:ext cx="22479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Issues appeared during real use: slow reruns, missing columns, stale state, wrong counts, and UI consistency problems.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9A1D0F-E374-4968-A8EF-D45C5F437BE7}"/>
              </a:ext>
            </a:extLst>
          </p:cNvPr>
          <p:cNvSpPr/>
          <p:nvPr/>
        </p:nvSpPr>
        <p:spPr>
          <a:xfrm>
            <a:off x="34417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6C09B7-99C7-45F8-818C-098FB24A455F}"/>
              </a:ext>
            </a:extLst>
          </p:cNvPr>
          <p:cNvSpPr/>
          <p:nvPr/>
        </p:nvSpPr>
        <p:spPr>
          <a:xfrm>
            <a:off x="3441700" y="38608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0F536C-5510-4F6A-8062-C669D39EC67D}"/>
              </a:ext>
            </a:extLst>
          </p:cNvPr>
          <p:cNvSpPr txBox="1"/>
          <p:nvPr/>
        </p:nvSpPr>
        <p:spPr>
          <a:xfrm>
            <a:off x="36449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AI support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4C8971-C00E-4387-B0EA-38BC0A3AA4DE}"/>
              </a:ext>
            </a:extLst>
          </p:cNvPr>
          <p:cNvSpPr txBox="1"/>
          <p:nvPr/>
        </p:nvSpPr>
        <p:spPr>
          <a:xfrm>
            <a:off x="36449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AI helped draft code, debug errors, compare approaches, and explain why problems happened.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BF7F39A-3E14-45B3-887D-11A441899798}"/>
              </a:ext>
            </a:extLst>
          </p:cNvPr>
          <p:cNvSpPr/>
          <p:nvPr/>
        </p:nvSpPr>
        <p:spPr>
          <a:xfrm>
            <a:off x="62738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37EAF2-6941-4E07-AF87-1CBD8A6D4650}"/>
              </a:ext>
            </a:extLst>
          </p:cNvPr>
          <p:cNvSpPr/>
          <p:nvPr/>
        </p:nvSpPr>
        <p:spPr>
          <a:xfrm>
            <a:off x="6273800" y="38608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577744-446C-45B4-8D67-B6CB887BAB3B}"/>
              </a:ext>
            </a:extLst>
          </p:cNvPr>
          <p:cNvSpPr txBox="1"/>
          <p:nvPr/>
        </p:nvSpPr>
        <p:spPr>
          <a:xfrm>
            <a:off x="64770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Human control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0FA8BD-9A9D-48C8-B125-291F660F8516}"/>
              </a:ext>
            </a:extLst>
          </p:cNvPr>
          <p:cNvSpPr txBox="1"/>
          <p:nvPr/>
        </p:nvSpPr>
        <p:spPr>
          <a:xfrm>
            <a:off x="64770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Final logic still came from business requirements and manual validation against the expected output.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7A8AD1-02A1-4CD5-A1EF-909FDAE472DB}"/>
              </a:ext>
            </a:extLst>
          </p:cNvPr>
          <p:cNvSpPr/>
          <p:nvPr/>
        </p:nvSpPr>
        <p:spPr>
          <a:xfrm>
            <a:off x="609600" y="6197600"/>
            <a:ext cx="8255000" cy="431800"/>
          </a:xfrm>
          <a:prstGeom prst="roundRect">
            <a:avLst/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190228-9B73-4DFE-9855-04B128B38738}"/>
              </a:ext>
            </a:extLst>
          </p:cNvPr>
          <p:cNvSpPr txBox="1"/>
          <p:nvPr/>
        </p:nvSpPr>
        <p:spPr>
          <a:xfrm>
            <a:off x="787400" y="63119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  <a:latin typeface="Aptos"/>
              </a:rPr>
              <a:t>AI was not replacing the developer. It helped shorten the learning and debugging cycle.</a:t>
            </a:r>
          </a:p>
        </p:txBody>
      </p:sp>
    </p:spTree>
    <p:extLst>
      <p:ext uri="{BB962C8B-B14F-4D97-AF65-F5344CB8AC3E}">
        <p14:creationId xmlns:p14="http://schemas.microsoft.com/office/powerpoint/2010/main" val="3277932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D75D18-8F63-49C4-9012-8A8EC18A0ECB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83E8A-FF55-4CED-8D9B-021A85C1E531}"/>
              </a:ext>
            </a:extLst>
          </p:cNvPr>
          <p:cNvSpPr txBox="1"/>
          <p:nvPr/>
        </p:nvSpPr>
        <p:spPr>
          <a:xfrm>
            <a:off x="482600" y="3810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AI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52481-1E91-4D77-93AE-2942AB18B2F7}"/>
              </a:ext>
            </a:extLst>
          </p:cNvPr>
          <p:cNvSpPr txBox="1"/>
          <p:nvPr/>
        </p:nvSpPr>
        <p:spPr>
          <a:xfrm>
            <a:off x="482600" y="787400"/>
            <a:ext cx="876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11827"/>
                </a:solidFill>
                <a:latin typeface="Aptos"/>
              </a:rPr>
              <a:t>AI became a development partner during build, debug, and improve cycles.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E1F6C-4059-4D8F-85E0-0833D1B1387A}"/>
              </a:ext>
            </a:extLst>
          </p:cNvPr>
          <p:cNvSpPr txBox="1"/>
          <p:nvPr/>
        </p:nvSpPr>
        <p:spPr>
          <a:xfrm>
            <a:off x="508000" y="1549400"/>
            <a:ext cx="876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4B5563"/>
                </a:solidFill>
                <a:latin typeface="Aptos"/>
              </a:rPr>
              <a:t>The project used AI for practical engineering support: understand the issue, propose a fix, test the result, then adjust until the app behavior matched the business workflow.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5ADDB6-4151-462C-8EB5-49E08A516CE8}"/>
              </a:ext>
            </a:extLst>
          </p:cNvPr>
          <p:cNvSpPr/>
          <p:nvPr/>
        </p:nvSpPr>
        <p:spPr>
          <a:xfrm>
            <a:off x="6096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36B10-2F6A-421D-A2D2-FFA9CCDBCB6B}"/>
              </a:ext>
            </a:extLst>
          </p:cNvPr>
          <p:cNvSpPr/>
          <p:nvPr/>
        </p:nvSpPr>
        <p:spPr>
          <a:xfrm>
            <a:off x="609600" y="23876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499DD-0D04-4B96-A4A8-EC29AE2FE838}"/>
              </a:ext>
            </a:extLst>
          </p:cNvPr>
          <p:cNvSpPr txBox="1"/>
          <p:nvPr/>
        </p:nvSpPr>
        <p:spPr>
          <a:xfrm>
            <a:off x="8128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Code generation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B59D4D-9E4A-41EC-940C-90D6760F6864}"/>
              </a:ext>
            </a:extLst>
          </p:cNvPr>
          <p:cNvSpPr txBox="1"/>
          <p:nvPr/>
        </p:nvSpPr>
        <p:spPr>
          <a:xfrm>
            <a:off x="8128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Helped create Streamlit UI, grid behavior, chatbot intent logic, reports, exports, and validation flow.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2EAB7F-51AF-4FD6-9CD5-1E5DF47B7334}"/>
              </a:ext>
            </a:extLst>
          </p:cNvPr>
          <p:cNvSpPr/>
          <p:nvPr/>
        </p:nvSpPr>
        <p:spPr>
          <a:xfrm>
            <a:off x="34417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93B30-AF24-4FDC-8EC8-28E0EF576554}"/>
              </a:ext>
            </a:extLst>
          </p:cNvPr>
          <p:cNvSpPr/>
          <p:nvPr/>
        </p:nvSpPr>
        <p:spPr>
          <a:xfrm>
            <a:off x="3441700" y="23876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E670A-EB69-4EFC-94A8-F322169E50CA}"/>
              </a:ext>
            </a:extLst>
          </p:cNvPr>
          <p:cNvSpPr txBox="1"/>
          <p:nvPr/>
        </p:nvSpPr>
        <p:spPr>
          <a:xfrm>
            <a:off x="36449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Debugging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C11A7E-6480-4C9F-944B-0D8147001F33}"/>
              </a:ext>
            </a:extLst>
          </p:cNvPr>
          <p:cNvSpPr txBox="1"/>
          <p:nvPr/>
        </p:nvSpPr>
        <p:spPr>
          <a:xfrm>
            <a:off x="36449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Helped trace errors such as KeyError, import problems, dropdown state bugs, and report calculation mismatches.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FAEEEB-872F-4321-ACDC-EF497EDC70F9}"/>
              </a:ext>
            </a:extLst>
          </p:cNvPr>
          <p:cNvSpPr/>
          <p:nvPr/>
        </p:nvSpPr>
        <p:spPr>
          <a:xfrm>
            <a:off x="62738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CC698C-8E94-4243-BA75-CC05102FFE93}"/>
              </a:ext>
            </a:extLst>
          </p:cNvPr>
          <p:cNvSpPr/>
          <p:nvPr/>
        </p:nvSpPr>
        <p:spPr>
          <a:xfrm>
            <a:off x="6273800" y="23876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73DE47-DA79-43F1-B139-05D2072E9EA2}"/>
              </a:ext>
            </a:extLst>
          </p:cNvPr>
          <p:cNvSpPr txBox="1"/>
          <p:nvPr/>
        </p:nvSpPr>
        <p:spPr>
          <a:xfrm>
            <a:off x="64770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Performance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81733-4C37-47A9-9808-1D6D637F66CC}"/>
              </a:ext>
            </a:extLst>
          </p:cNvPr>
          <p:cNvSpPr txBox="1"/>
          <p:nvPr/>
        </p:nvSpPr>
        <p:spPr>
          <a:xfrm>
            <a:off x="64770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Suggested caching, precomputed summaries, lighter recalculation, and reduced reruns to make the app faster.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2EE54C-E8CE-4FF2-ADD4-5078B83A0F3E}"/>
              </a:ext>
            </a:extLst>
          </p:cNvPr>
          <p:cNvSpPr/>
          <p:nvPr/>
        </p:nvSpPr>
        <p:spPr>
          <a:xfrm>
            <a:off x="6096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571056-BB26-4684-88FC-4A407AA6DCE9}"/>
              </a:ext>
            </a:extLst>
          </p:cNvPr>
          <p:cNvSpPr/>
          <p:nvPr/>
        </p:nvSpPr>
        <p:spPr>
          <a:xfrm>
            <a:off x="609600" y="38608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D781D7-2A21-4A07-8A12-812E9036CF2B}"/>
              </a:ext>
            </a:extLst>
          </p:cNvPr>
          <p:cNvSpPr txBox="1"/>
          <p:nvPr/>
        </p:nvSpPr>
        <p:spPr>
          <a:xfrm>
            <a:off x="8128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Business mapping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732C2A-25F0-45B3-9799-ABE665E46013}"/>
              </a:ext>
            </a:extLst>
          </p:cNvPr>
          <p:cNvSpPr txBox="1"/>
          <p:nvPr/>
        </p:nvSpPr>
        <p:spPr>
          <a:xfrm>
            <a:off x="8128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Translated actions such as Delete Some, Delete All, New Some, and NewNew into consistent output rules.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5B9649-E37A-487F-AC1E-6A5BF662BE12}"/>
              </a:ext>
            </a:extLst>
          </p:cNvPr>
          <p:cNvSpPr/>
          <p:nvPr/>
        </p:nvSpPr>
        <p:spPr>
          <a:xfrm>
            <a:off x="34417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D4DED6-7355-49BE-9FA9-D9C8B0C3981B}"/>
              </a:ext>
            </a:extLst>
          </p:cNvPr>
          <p:cNvSpPr/>
          <p:nvPr/>
        </p:nvSpPr>
        <p:spPr>
          <a:xfrm>
            <a:off x="3441700" y="38608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228ADD-F5B0-47F3-BBB9-50D958B19C78}"/>
              </a:ext>
            </a:extLst>
          </p:cNvPr>
          <p:cNvSpPr txBox="1"/>
          <p:nvPr/>
        </p:nvSpPr>
        <p:spPr>
          <a:xfrm>
            <a:off x="36449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UX iteration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BC3E52-A13C-42C2-9F18-BA05FAD15C9C}"/>
              </a:ext>
            </a:extLst>
          </p:cNvPr>
          <p:cNvSpPr txBox="1"/>
          <p:nvPr/>
        </p:nvSpPr>
        <p:spPr>
          <a:xfrm>
            <a:off x="36449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Helped refine login, chatbot, report preview, pinned columns, export files, and warning messages.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EDDF92-C0D5-4CE6-8137-4B3CF9908F11}"/>
              </a:ext>
            </a:extLst>
          </p:cNvPr>
          <p:cNvSpPr/>
          <p:nvPr/>
        </p:nvSpPr>
        <p:spPr>
          <a:xfrm>
            <a:off x="62738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6A2D80-0CE4-4850-9753-823CEADCE99D}"/>
              </a:ext>
            </a:extLst>
          </p:cNvPr>
          <p:cNvSpPr/>
          <p:nvPr/>
        </p:nvSpPr>
        <p:spPr>
          <a:xfrm>
            <a:off x="6273800" y="38608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84A291-DE67-43FF-8839-13B0A9581F56}"/>
              </a:ext>
            </a:extLst>
          </p:cNvPr>
          <p:cNvSpPr txBox="1"/>
          <p:nvPr/>
        </p:nvSpPr>
        <p:spPr>
          <a:xfrm>
            <a:off x="64770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Learning loop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06614-A077-40E1-A45C-EC0CA518F873}"/>
              </a:ext>
            </a:extLst>
          </p:cNvPr>
          <p:cNvSpPr txBox="1"/>
          <p:nvPr/>
        </p:nvSpPr>
        <p:spPr>
          <a:xfrm>
            <a:off x="6477000" y="43942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Each fix became a chance to learn the system deeper, not only copy code.</a:t>
            </a:r>
          </a:p>
        </p:txBody>
      </p:sp>
    </p:spTree>
    <p:extLst>
      <p:ext uri="{BB962C8B-B14F-4D97-AF65-F5344CB8AC3E}">
        <p14:creationId xmlns:p14="http://schemas.microsoft.com/office/powerpoint/2010/main" val="4272504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7E15AD-EAE6-4D48-A4C0-B1D2CF9CF7E7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873FF-18AD-4C48-A55D-7E78BB4D8A22}"/>
              </a:ext>
            </a:extLst>
          </p:cNvPr>
          <p:cNvSpPr txBox="1"/>
          <p:nvPr/>
        </p:nvSpPr>
        <p:spPr>
          <a:xfrm>
            <a:off x="482600" y="3810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KEY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D6EFFD-944F-4DC3-9E95-B26B4D3C2B8C}"/>
              </a:ext>
            </a:extLst>
          </p:cNvPr>
          <p:cNvSpPr txBox="1"/>
          <p:nvPr/>
        </p:nvSpPr>
        <p:spPr>
          <a:xfrm>
            <a:off x="482600" y="787400"/>
            <a:ext cx="876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11827"/>
                </a:solidFill>
                <a:latin typeface="Aptos"/>
              </a:rPr>
              <a:t>The project taught how code, data, and business decisions depend on each 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308C7-B1D9-4B43-A1B5-DE5EE9173CB4}"/>
              </a:ext>
            </a:extLst>
          </p:cNvPr>
          <p:cNvSpPr txBox="1"/>
          <p:nvPr/>
        </p:nvSpPr>
        <p:spPr>
          <a:xfrm>
            <a:off x="508000" y="1549400"/>
            <a:ext cx="8763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4B5563"/>
                </a:solidFill>
                <a:latin typeface="Aptos"/>
              </a:rPr>
              <a:t>This was more than a programming task. It required understanding how one range decision affects products, planograms, clusters, reports, and decision risk.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E7E941-8D17-4F2E-8891-D7FDA2A307CC}"/>
              </a:ext>
            </a:extLst>
          </p:cNvPr>
          <p:cNvSpPr/>
          <p:nvPr/>
        </p:nvSpPr>
        <p:spPr>
          <a:xfrm>
            <a:off x="6096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9E2E6E-A147-4E6C-BB1E-DC6EE93F2D6B}"/>
              </a:ext>
            </a:extLst>
          </p:cNvPr>
          <p:cNvSpPr/>
          <p:nvPr/>
        </p:nvSpPr>
        <p:spPr>
          <a:xfrm>
            <a:off x="609600" y="23876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D057F-F43E-4131-A089-E9DA94B1059A}"/>
              </a:ext>
            </a:extLst>
          </p:cNvPr>
          <p:cNvSpPr txBox="1"/>
          <p:nvPr/>
        </p:nvSpPr>
        <p:spPr>
          <a:xfrm>
            <a:off x="8128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System thinking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F6481-92C9-451D-A650-3E25263DDC9D}"/>
              </a:ext>
            </a:extLst>
          </p:cNvPr>
          <p:cNvSpPr txBox="1"/>
          <p:nvPr/>
        </p:nvSpPr>
        <p:spPr>
          <a:xfrm>
            <a:off x="8128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to trace data from raw files through filters, editable grid, status calculation, and final report.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BDC468-AC6A-490C-BDC7-31C2A4741F9D}"/>
              </a:ext>
            </a:extLst>
          </p:cNvPr>
          <p:cNvSpPr/>
          <p:nvPr/>
        </p:nvSpPr>
        <p:spPr>
          <a:xfrm>
            <a:off x="34417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BAC1FE-620C-4AE0-A534-01C417ED7BE3}"/>
              </a:ext>
            </a:extLst>
          </p:cNvPr>
          <p:cNvSpPr/>
          <p:nvPr/>
        </p:nvSpPr>
        <p:spPr>
          <a:xfrm>
            <a:off x="3441700" y="23876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FB96D-8DBB-4694-885B-60D7EBA1512A}"/>
              </a:ext>
            </a:extLst>
          </p:cNvPr>
          <p:cNvSpPr txBox="1"/>
          <p:nvPr/>
        </p:nvSpPr>
        <p:spPr>
          <a:xfrm>
            <a:off x="36449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State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D43F5-CE74-48B0-87E6-B94F66F4C883}"/>
              </a:ext>
            </a:extLst>
          </p:cNvPr>
          <p:cNvSpPr txBox="1"/>
          <p:nvPr/>
        </p:nvSpPr>
        <p:spPr>
          <a:xfrm>
            <a:off x="36449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why autosave, refresh, switching DG, and role access must keep the same latest decision.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3B3107-A4D0-4BB6-8A28-74B0CBA4C792}"/>
              </a:ext>
            </a:extLst>
          </p:cNvPr>
          <p:cNvSpPr/>
          <p:nvPr/>
        </p:nvSpPr>
        <p:spPr>
          <a:xfrm>
            <a:off x="62738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A8011-D1F4-4F6B-8340-5A962ED1B400}"/>
              </a:ext>
            </a:extLst>
          </p:cNvPr>
          <p:cNvSpPr/>
          <p:nvPr/>
        </p:nvSpPr>
        <p:spPr>
          <a:xfrm>
            <a:off x="6273800" y="23876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E1024-E480-461B-8A7D-07001B614773}"/>
              </a:ext>
            </a:extLst>
          </p:cNvPr>
          <p:cNvSpPr txBox="1"/>
          <p:nvPr/>
        </p:nvSpPr>
        <p:spPr>
          <a:xfrm>
            <a:off x="64770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Data quality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6E5031-FE0C-47CE-A656-4DF53D4C3C1D}"/>
              </a:ext>
            </a:extLst>
          </p:cNvPr>
          <p:cNvSpPr txBox="1"/>
          <p:nvPr/>
        </p:nvSpPr>
        <p:spPr>
          <a:xfrm>
            <a:off x="64770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Learned how column names, blanks, numeric formats, and missing data can break business logic.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C4880C-1454-446B-B1C3-521E047FDAD1}"/>
              </a:ext>
            </a:extLst>
          </p:cNvPr>
          <p:cNvSpPr/>
          <p:nvPr/>
        </p:nvSpPr>
        <p:spPr>
          <a:xfrm>
            <a:off x="6096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D98D46-E785-4DA5-AF4D-920D6E02111E}"/>
              </a:ext>
            </a:extLst>
          </p:cNvPr>
          <p:cNvSpPr/>
          <p:nvPr/>
        </p:nvSpPr>
        <p:spPr>
          <a:xfrm>
            <a:off x="609600" y="38608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3E74E-8FB7-4678-913A-5D0F8287D686}"/>
              </a:ext>
            </a:extLst>
          </p:cNvPr>
          <p:cNvSpPr txBox="1"/>
          <p:nvPr/>
        </p:nvSpPr>
        <p:spPr>
          <a:xfrm>
            <a:off x="8128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Risk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E97C5-D8FA-4A17-8811-F77559EE8ACF}"/>
              </a:ext>
            </a:extLst>
          </p:cNvPr>
          <p:cNvSpPr txBox="1"/>
          <p:nvPr/>
        </p:nvSpPr>
        <p:spPr>
          <a:xfrm>
            <a:off x="8128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Built warnings for Top 10% best seller deletion and Tail 10% lowest seller addition.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4BE090A-CE06-478F-8AF4-0D059AE28BA2}"/>
              </a:ext>
            </a:extLst>
          </p:cNvPr>
          <p:cNvSpPr/>
          <p:nvPr/>
        </p:nvSpPr>
        <p:spPr>
          <a:xfrm>
            <a:off x="34417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1533B-D0EF-488E-A0C3-02A50A92C7F5}"/>
              </a:ext>
            </a:extLst>
          </p:cNvPr>
          <p:cNvSpPr/>
          <p:nvPr/>
        </p:nvSpPr>
        <p:spPr>
          <a:xfrm>
            <a:off x="3441700" y="38608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B1FE64-CE39-427A-99A9-9E6E8768FE20}"/>
              </a:ext>
            </a:extLst>
          </p:cNvPr>
          <p:cNvSpPr txBox="1"/>
          <p:nvPr/>
        </p:nvSpPr>
        <p:spPr>
          <a:xfrm>
            <a:off x="36449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Communication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619D48-B800-459C-B427-AA1127C1A55E}"/>
              </a:ext>
            </a:extLst>
          </p:cNvPr>
          <p:cNvSpPr txBox="1"/>
          <p:nvPr/>
        </p:nvSpPr>
        <p:spPr>
          <a:xfrm>
            <a:off x="36449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Converted detailed actions into manager-friendly report, audit log, and chatbot answers.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FC28B0-C7AC-489B-BCAD-A38F7D24259A}"/>
              </a:ext>
            </a:extLst>
          </p:cNvPr>
          <p:cNvSpPr/>
          <p:nvPr/>
        </p:nvSpPr>
        <p:spPr>
          <a:xfrm>
            <a:off x="62738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2B7617-BCA7-40E6-B9BD-C87A9B6DD945}"/>
              </a:ext>
            </a:extLst>
          </p:cNvPr>
          <p:cNvSpPr/>
          <p:nvPr/>
        </p:nvSpPr>
        <p:spPr>
          <a:xfrm>
            <a:off x="6273800" y="38608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BFEC8F-B898-4F01-826E-ECC43E4D32A3}"/>
              </a:ext>
            </a:extLst>
          </p:cNvPr>
          <p:cNvSpPr txBox="1"/>
          <p:nvPr/>
        </p:nvSpPr>
        <p:spPr>
          <a:xfrm>
            <a:off x="64770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Practical debugging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A04902-45D0-4003-BF6E-095FD8E65D36}"/>
              </a:ext>
            </a:extLst>
          </p:cNvPr>
          <p:cNvSpPr txBox="1"/>
          <p:nvPr/>
        </p:nvSpPr>
        <p:spPr>
          <a:xfrm>
            <a:off x="6477000" y="43942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Many issues appeared only after using real data and testing realistic workflows.</a:t>
            </a:r>
          </a:p>
        </p:txBody>
      </p:sp>
    </p:spTree>
    <p:extLst>
      <p:ext uri="{BB962C8B-B14F-4D97-AF65-F5344CB8AC3E}">
        <p14:creationId xmlns:p14="http://schemas.microsoft.com/office/powerpoint/2010/main" val="410222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B16BC5-2A91-4719-9891-6F0C82C427C6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BE091-6334-4477-8B25-48EE0EC478CA}"/>
              </a:ext>
            </a:extLst>
          </p:cNvPr>
          <p:cNvSpPr txBox="1"/>
          <p:nvPr/>
        </p:nvSpPr>
        <p:spPr>
          <a:xfrm>
            <a:off x="482600" y="3810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BBFA4"/>
                </a:solidFill>
                <a:latin typeface="Aptos"/>
              </a:rPr>
              <a:t>VALUE CREATED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B4494-C88F-4D16-BDA5-0CC6522EF428}"/>
              </a:ext>
            </a:extLst>
          </p:cNvPr>
          <p:cNvSpPr txBox="1"/>
          <p:nvPr/>
        </p:nvSpPr>
        <p:spPr>
          <a:xfrm>
            <a:off x="482600" y="787400"/>
            <a:ext cx="8763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11827"/>
                </a:solidFill>
                <a:latin typeface="Aptos"/>
              </a:rPr>
              <a:t>RangeSheet became a connected review platform instead of separate manual spreadsheets.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6E014-B126-4645-BBEA-A7F55B321DAB}"/>
              </a:ext>
            </a:extLst>
          </p:cNvPr>
          <p:cNvSpPr txBox="1"/>
          <p:nvPr/>
        </p:nvSpPr>
        <p:spPr>
          <a:xfrm>
            <a:off x="508000" y="1549400"/>
            <a:ext cx="8763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50">
                <a:solidFill>
                  <a:srgbClr val="4B5563"/>
                </a:solidFill>
                <a:latin typeface="Aptos"/>
              </a:rPr>
              <a:t>The final workflow links review actions to business impact, warnings, reports, exports, and auditability.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BAC1FB-6B3F-456F-BC74-AA35B830D93E}"/>
              </a:ext>
            </a:extLst>
          </p:cNvPr>
          <p:cNvSpPr/>
          <p:nvPr/>
        </p:nvSpPr>
        <p:spPr>
          <a:xfrm>
            <a:off x="6096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E479C-F669-4252-93A7-E3888778E44A}"/>
              </a:ext>
            </a:extLst>
          </p:cNvPr>
          <p:cNvSpPr/>
          <p:nvPr/>
        </p:nvSpPr>
        <p:spPr>
          <a:xfrm>
            <a:off x="609600" y="2387600"/>
            <a:ext cx="63500" cy="1168400"/>
          </a:xfrm>
          <a:prstGeom prst="rect">
            <a:avLst/>
          </a:prstGeom>
          <a:solidFill>
            <a:srgbClr val="2BBFA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DA9EE-B6D2-4203-B9BF-1F57128FB80A}"/>
              </a:ext>
            </a:extLst>
          </p:cNvPr>
          <p:cNvSpPr txBox="1"/>
          <p:nvPr/>
        </p:nvSpPr>
        <p:spPr>
          <a:xfrm>
            <a:off x="8128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Connected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9D60F-A46B-4A75-B847-B51C0EBEA7D9}"/>
              </a:ext>
            </a:extLst>
          </p:cNvPr>
          <p:cNvSpPr txBox="1"/>
          <p:nvPr/>
        </p:nvSpPr>
        <p:spPr>
          <a:xfrm>
            <a:off x="8128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Dropdown edits update the main table, cluster table, range architecture, and report output.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E866CD-2057-4D5E-AA9C-10BEC6C53D4B}"/>
              </a:ext>
            </a:extLst>
          </p:cNvPr>
          <p:cNvSpPr/>
          <p:nvPr/>
        </p:nvSpPr>
        <p:spPr>
          <a:xfrm>
            <a:off x="34417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5A5217-A5C7-48DC-9B3E-3D3BFB28F37B}"/>
              </a:ext>
            </a:extLst>
          </p:cNvPr>
          <p:cNvSpPr/>
          <p:nvPr/>
        </p:nvSpPr>
        <p:spPr>
          <a:xfrm>
            <a:off x="3441700" y="2387600"/>
            <a:ext cx="63500" cy="1168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32ABCF-D76C-407B-87AF-79555517B4CD}"/>
              </a:ext>
            </a:extLst>
          </p:cNvPr>
          <p:cNvSpPr txBox="1"/>
          <p:nvPr/>
        </p:nvSpPr>
        <p:spPr>
          <a:xfrm>
            <a:off x="36449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Decision support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FE360-376E-4461-B3F7-32A68F8CD238}"/>
              </a:ext>
            </a:extLst>
          </p:cNvPr>
          <p:cNvSpPr txBox="1"/>
          <p:nvPr/>
        </p:nvSpPr>
        <p:spPr>
          <a:xfrm>
            <a:off x="36449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The app highlights risky changes before submission and records the confirmed action.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93416-01CB-4AA2-AD88-F3ECC99A3344}"/>
              </a:ext>
            </a:extLst>
          </p:cNvPr>
          <p:cNvSpPr/>
          <p:nvPr/>
        </p:nvSpPr>
        <p:spPr>
          <a:xfrm>
            <a:off x="6273800" y="23876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037C8F-7F2F-4CEF-A216-4A4686E8C752}"/>
              </a:ext>
            </a:extLst>
          </p:cNvPr>
          <p:cNvSpPr/>
          <p:nvPr/>
        </p:nvSpPr>
        <p:spPr>
          <a:xfrm>
            <a:off x="6273800" y="2387600"/>
            <a:ext cx="63500" cy="1168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6EFF8A-67F7-4CE0-8658-D9F86C28AA02}"/>
              </a:ext>
            </a:extLst>
          </p:cNvPr>
          <p:cNvSpPr txBox="1"/>
          <p:nvPr/>
        </p:nvSpPr>
        <p:spPr>
          <a:xfrm>
            <a:off x="6477000" y="25654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Chatbot helper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D3339-8A3F-4387-A815-66FC7C018B66}"/>
              </a:ext>
            </a:extLst>
          </p:cNvPr>
          <p:cNvSpPr txBox="1"/>
          <p:nvPr/>
        </p:nvSpPr>
        <p:spPr>
          <a:xfrm>
            <a:off x="6477000" y="29210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Users can ask common range questions and trigger supported item or planogram actions.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AC8905-9BFD-498C-BA7D-44A48E15064D}"/>
              </a:ext>
            </a:extLst>
          </p:cNvPr>
          <p:cNvSpPr/>
          <p:nvPr/>
        </p:nvSpPr>
        <p:spPr>
          <a:xfrm>
            <a:off x="6096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DB0CDB-03DA-471B-B917-9D9B37E18F0E}"/>
              </a:ext>
            </a:extLst>
          </p:cNvPr>
          <p:cNvSpPr/>
          <p:nvPr/>
        </p:nvSpPr>
        <p:spPr>
          <a:xfrm>
            <a:off x="609600" y="3860800"/>
            <a:ext cx="63500" cy="1168400"/>
          </a:xfrm>
          <a:prstGeom prst="rect">
            <a:avLst/>
          </a:prstGeom>
          <a:solidFill>
            <a:srgbClr val="F6D9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8C2A22-FF77-46A4-B182-5EF6FD638EEC}"/>
              </a:ext>
            </a:extLst>
          </p:cNvPr>
          <p:cNvSpPr txBox="1"/>
          <p:nvPr/>
        </p:nvSpPr>
        <p:spPr>
          <a:xfrm>
            <a:off x="8128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Report ready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4462B1-92DD-4570-8912-2A7EE9EAACFA}"/>
              </a:ext>
            </a:extLst>
          </p:cNvPr>
          <p:cNvSpPr txBox="1"/>
          <p:nvPr/>
        </p:nvSpPr>
        <p:spPr>
          <a:xfrm>
            <a:off x="812800" y="4394200"/>
            <a:ext cx="22479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Submitted DGs create manager-friendly summaries with SKU impact and sales risk review.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16E551D-0223-419B-B2F0-18C63C0D830D}"/>
              </a:ext>
            </a:extLst>
          </p:cNvPr>
          <p:cNvSpPr/>
          <p:nvPr/>
        </p:nvSpPr>
        <p:spPr>
          <a:xfrm>
            <a:off x="34417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DCCABC-12CE-4E84-9134-D595F275795B}"/>
              </a:ext>
            </a:extLst>
          </p:cNvPr>
          <p:cNvSpPr/>
          <p:nvPr/>
        </p:nvSpPr>
        <p:spPr>
          <a:xfrm>
            <a:off x="3441700" y="3860800"/>
            <a:ext cx="63500" cy="1168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A94F46-EE3D-46ED-A28F-B2AF81D28974}"/>
              </a:ext>
            </a:extLst>
          </p:cNvPr>
          <p:cNvSpPr txBox="1"/>
          <p:nvPr/>
        </p:nvSpPr>
        <p:spPr>
          <a:xfrm>
            <a:off x="36449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Governance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B6F950-C736-41EA-B917-DE0603D80B26}"/>
              </a:ext>
            </a:extLst>
          </p:cNvPr>
          <p:cNvSpPr txBox="1"/>
          <p:nvPr/>
        </p:nvSpPr>
        <p:spPr>
          <a:xfrm>
            <a:off x="3644900" y="43942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Login roles and audit logs help control access and track changes.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510DAA-E83B-4A16-AB18-D055FF0E14B8}"/>
              </a:ext>
            </a:extLst>
          </p:cNvPr>
          <p:cNvSpPr/>
          <p:nvPr/>
        </p:nvSpPr>
        <p:spPr>
          <a:xfrm>
            <a:off x="6273800" y="3860800"/>
            <a:ext cx="2603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7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82D922-5DC9-4CCE-B4B6-DC6A80D09B6F}"/>
              </a:ext>
            </a:extLst>
          </p:cNvPr>
          <p:cNvSpPr/>
          <p:nvPr/>
        </p:nvSpPr>
        <p:spPr>
          <a:xfrm>
            <a:off x="6273800" y="3860800"/>
            <a:ext cx="63500" cy="11684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58A0C-7B82-48FF-BF55-412ECD936640}"/>
              </a:ext>
            </a:extLst>
          </p:cNvPr>
          <p:cNvSpPr txBox="1"/>
          <p:nvPr/>
        </p:nvSpPr>
        <p:spPr>
          <a:xfrm>
            <a:off x="6477000" y="4038600"/>
            <a:ext cx="2247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/>
              </a:rPr>
              <a:t>Business handoff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B4660-7D05-4DC3-A418-FB6A34914EFB}"/>
              </a:ext>
            </a:extLst>
          </p:cNvPr>
          <p:cNvSpPr txBox="1"/>
          <p:nvPr/>
        </p:nvSpPr>
        <p:spPr>
          <a:xfrm>
            <a:off x="6477000" y="4394200"/>
            <a:ext cx="22479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50">
                <a:solidFill>
                  <a:srgbClr val="374151"/>
                </a:solidFill>
                <a:latin typeface="Aptos"/>
              </a:rPr>
              <a:t>Export files support downstream usage after review is complete.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FBEA58D-B7BF-4F92-91A9-D15144F1E937}"/>
              </a:ext>
            </a:extLst>
          </p:cNvPr>
          <p:cNvSpPr/>
          <p:nvPr/>
        </p:nvSpPr>
        <p:spPr>
          <a:xfrm>
            <a:off x="609600" y="6197600"/>
            <a:ext cx="8255000" cy="431800"/>
          </a:xfrm>
          <a:prstGeom prst="roundRect">
            <a:avLst/>
          </a:prstGeom>
          <a:solidFill>
            <a:srgbClr val="E8F8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C2B4F-C4BE-4B8F-82C0-34CEF7C12D64}"/>
              </a:ext>
            </a:extLst>
          </p:cNvPr>
          <p:cNvSpPr txBox="1"/>
          <p:nvPr/>
        </p:nvSpPr>
        <p:spPr>
          <a:xfrm>
            <a:off x="787400" y="6311900"/>
            <a:ext cx="787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  <a:latin typeface="Aptos"/>
              </a:rPr>
              <a:t>The main value is consistency: one edit can flow through every related output.</a:t>
            </a:r>
          </a:p>
        </p:txBody>
      </p:sp>
    </p:spTree>
    <p:extLst>
      <p:ext uri="{BB962C8B-B14F-4D97-AF65-F5344CB8AC3E}">
        <p14:creationId xmlns:p14="http://schemas.microsoft.com/office/powerpoint/2010/main" val="3172221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C607A8-94CE-496B-81A5-C0AD8702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0" y="955547"/>
            <a:ext cx="11727545" cy="432888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471B6-D429-4F81-BBB8-31A6C220D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5620"/>
          <a:stretch>
            <a:fillRect/>
          </a:stretch>
        </p:blipFill>
        <p:spPr>
          <a:xfrm>
            <a:off x="-58055" y="909617"/>
            <a:ext cx="12250052" cy="536546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CP AXTR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4978</TotalTime>
  <Words>1721</Words>
  <Application>Microsoft Office PowerPoint</Application>
  <PresentationFormat>Widescreen</PresentationFormat>
  <Paragraphs>213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Aptos</vt:lpstr>
      <vt:lpstr>Arial</vt:lpstr>
      <vt:lpstr>Calibri</vt:lpstr>
      <vt:lpstr>DB Adman X Bold</vt:lpstr>
      <vt:lpstr>Lotuss Smart HL</vt:lpstr>
      <vt:lpstr>Prompt</vt:lpstr>
      <vt:lpstr>Prompt Medium</vt:lpstr>
      <vt:lpstr>Symbol</vt:lpstr>
      <vt:lpstr>CP AXTRA Theme</vt:lpstr>
      <vt:lpstr>RANGE SHEET INTELLIGENCE</vt:lpstr>
      <vt:lpstr>SCOPE</vt:lpstr>
      <vt:lpstr>สิทธิ์การใช้งานระบบ (Roles &amp; Permissions)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RANGESHEET PLATFORM</dc:title>
  <dc:creator>Chayakarn Hengsuwan</dc:creator>
  <cp:lastModifiedBy>Chanitsiree Dattuyawat</cp:lastModifiedBy>
  <cp:revision>165</cp:revision>
  <dcterms:created xsi:type="dcterms:W3CDTF">2026-06-26T02:22:55Z</dcterms:created>
  <dcterms:modified xsi:type="dcterms:W3CDTF">2026-07-20T04:19:37Z</dcterms:modified>
</cp:coreProperties>
</file>
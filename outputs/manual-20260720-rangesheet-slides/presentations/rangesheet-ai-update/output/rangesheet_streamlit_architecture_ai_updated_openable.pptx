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147478708" r:id="rId5"/>
    <p:sldId id="271" r:id="rId6"/>
    <p:sldId id="265" r:id="rId7"/>
    <p:sldId id="266" r:id="rId8"/>
    <p:sldId id="262" r:id="rId9"/>
    <p:sldId id="263" r:id="rId10"/>
    <p:sldId id="2147478722" r:id="rId11"/>
    <p:sldId id="261" r:id="rId12"/>
    <p:sldId id="2147478723" r:id="rId13"/>
    <p:sldId id="2147478724" r:id="rId14"/>
    <p:sldId id="2147478725" r:id="rId15"/>
    <p:sldId id="214747872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94"/>
  </p:normalViewPr>
  <p:slideViewPr>
    <p:cSldViewPr snapToGrid="0">
      <p:cViewPr varScale="1">
        <p:scale>
          <a:sx n="39" d="100"/>
          <a:sy n="39" d="100"/>
        </p:scale>
        <p:origin x="8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5B5DD0-D6F9-77AB-1F03-7B8CFA946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/>
          <a:srcRect r="20934" b="8932"/>
          <a:stretch/>
        </p:blipFill>
        <p:spPr>
          <a:xfrm>
            <a:off x="0" y="0"/>
            <a:ext cx="9639759" cy="6245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99262E-3EFA-5104-44F0-2DDB8108EF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spc="300"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1BC84-4D20-F19E-8FF2-CED1D7C48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5774"/>
            <a:ext cx="9144000" cy="1000125"/>
          </a:xfrm>
        </p:spPr>
        <p:txBody>
          <a:bodyPr/>
          <a:lstStyle>
            <a:lvl1pPr marL="0" indent="0" algn="l">
              <a:buNone/>
              <a:defRPr sz="2400"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0A2C-B233-2130-5D1B-F5FE26A7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CD078-A69C-F039-BE77-C3BEDD33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2D9E-CD61-CE4A-9ADF-06A8BA22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E8563-37FF-DDF8-F8E9-A7110050348A}"/>
              </a:ext>
            </a:extLst>
          </p:cNvPr>
          <p:cNvSpPr txBox="1"/>
          <p:nvPr/>
        </p:nvSpPr>
        <p:spPr>
          <a:xfrm>
            <a:off x="1524000" y="3581400"/>
            <a:ext cx="7286625" cy="461665"/>
          </a:xfrm>
          <a:prstGeom prst="rect">
            <a:avLst/>
          </a:prstGeom>
          <a:solidFill>
            <a:srgbClr val="0072CB"/>
          </a:solidFill>
          <a:ln>
            <a:solidFill>
              <a:srgbClr val="0072CB"/>
            </a:solidFill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  <a:latin typeface="DB Adman X Bold" panose="02000506090000020004" pitchFamily="2" charset="-34"/>
              <a:cs typeface="DB Adman X Bold" panose="0200050609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426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6A9D-57FA-145D-4088-C416898E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C786-F309-A602-C33C-27D405B8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249"/>
            <a:ext cx="10515600" cy="4351338"/>
          </a:xfrm>
        </p:spPr>
        <p:txBody>
          <a:bodyPr/>
          <a:lstStyle>
            <a:lvl1pPr marL="447675" indent="-447675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50BD-87EE-E0EB-5AE0-621ABD6B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AF50-A694-9A61-8377-C33EF2CE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E9006-9BD3-B5B6-8E22-EA71C8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F5413BC9-0467-5D3F-CE2B-5AA3C2F762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07158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A87A-BA9D-6B41-17C2-7355BF21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E9D31-1B9C-BC89-CB3C-020130F5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55F8-351D-E1A3-C4E6-5350034D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44B5-1086-5224-940C-511D7864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C7E5-D948-0C96-C7BE-48D932F5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0CA4BC6A-AB69-C1F9-0FBC-7AB7742F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26299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BA08-E2EB-498C-4FFF-C9215DFF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4E04-B864-9D1E-A53F-E1CDB1DFA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47C8-33E4-8E6B-93BF-160F24C0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9404B-CB43-AFAF-B1AC-6D35760F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6FBD-D7C8-F4E3-4C47-F22935EF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5E14-1DDC-2D01-CF6A-9D8A0ACB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AD9F-0F28-4FC6-BD24-83A59AA6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D0249-6C0E-9222-0008-AEEA35FAF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4C52D-0D7F-FDCC-8267-282A3754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F8663-3DA9-F16B-130A-45CEEF719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94312-E242-6FD0-88F9-281F6B2FD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552E6-7884-2E41-75BE-4F148F7C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E35D4-16B2-94CF-9D3B-7CE39DC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6C444-B90C-9160-908C-A8B7D57E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6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246A-4F1A-FF10-F639-31FF0C5D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290BB-F072-4E8E-CB8F-79A7E5CB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0831-29EB-26BC-1939-16E054F2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EE0B1-1D10-67D6-C122-98583B3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51218-25E0-2BAE-BB38-2ABC0F758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4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693A-FF42-876E-87FD-8C82CA14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6BEA-E792-6FE4-6068-77C30152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0F8E3-F911-6006-9E02-2F8A6B17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AEDD8-F3A2-B7F3-2755-ABB3A02D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85F06-2C39-CD13-C363-87BF2160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009D4-7009-D417-8C87-F40B594B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1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3A24-07A3-DBF5-4C0F-00FE84F7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CDF2C-3C49-FA81-62BF-1F1334A57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FE38E-E451-D4B5-D6D8-F9067F79E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C4788-442A-6DDC-C9C8-D18341C7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F9F18-3214-E450-D06B-F7EFD7A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8AAA-5219-F8DE-FF01-31614EE8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0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0831-455A-743B-DA03-E4786097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265"/>
            <a:ext cx="10515600" cy="8644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7C034-7032-64EE-749C-39E0BE9E4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CD147-E1E2-D23F-155C-155B4347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73E0-941E-D771-6C71-0775F522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6E9F-C708-036C-42F9-B03564F1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0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5E005-32DA-D28B-1F62-EA2E80C53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3996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FADF-9B18-D95A-4129-A587FAEE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8E84-D942-8EDB-ED0A-94967178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654E-7AC0-92DB-FA82-F489419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F866A-BCE6-F8F0-97ED-7781CEBC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9F367-CDF3-399F-E48A-09609572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191B4-44AE-94A0-5515-9BF46BEA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B805-572A-47C3-4D5D-FE97D510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B0153-C829-2351-8EF8-F28640A91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6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BA1D6-83A9-87C8-D9AE-30D31AF3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B70C4-CF68-F093-6B52-AAE69A364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32F3-0C4D-03B0-7C68-890C929B7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B828D-381E-42A0-A9B5-DE727555F920}" type="datetimeFigureOut">
              <a:rPr lang="en-US" smtClean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B0AD-15D3-15E5-E2F8-215BD6C4D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27F2-3740-39D2-7069-E39C4D2CC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30CCCA-AC00-CA5F-EA6F-34CFEC9DB871}"/>
              </a:ext>
            </a:extLst>
          </p:cNvPr>
          <p:cNvGrpSpPr/>
          <p:nvPr userDrawn="1"/>
        </p:nvGrpSpPr>
        <p:grpSpPr>
          <a:xfrm>
            <a:off x="10463378" y="99208"/>
            <a:ext cx="1500027" cy="6371629"/>
            <a:chOff x="10463378" y="123828"/>
            <a:chExt cx="1500027" cy="63716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B2BEB7-24FC-3E6D-9724-48E40F561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301" t="25126" r="10403" b="30769"/>
            <a:stretch>
              <a:fillRect/>
            </a:stretch>
          </p:blipFill>
          <p:spPr>
            <a:xfrm>
              <a:off x="10585944" y="6248012"/>
              <a:ext cx="1377461" cy="247445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3A7A57-DEC3-07F1-57F2-B1704F158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6902" t="21346" r="62396" b="17048"/>
            <a:stretch>
              <a:fillRect/>
            </a:stretch>
          </p:blipFill>
          <p:spPr>
            <a:xfrm>
              <a:off x="10463378" y="123828"/>
              <a:ext cx="1500027" cy="603824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9DEF91B-AA9B-2E81-6523-D91D985A654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t="98202"/>
          <a:stretch>
            <a:fillRect/>
          </a:stretch>
        </p:blipFill>
        <p:spPr>
          <a:xfrm>
            <a:off x="-10488" y="6739446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70530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BB215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800" b="1" kern="1200">
          <a:solidFill>
            <a:srgbClr val="0072CB"/>
          </a:solidFill>
          <a:latin typeface="Prompt Medium" panose="00000600000000000000" pitchFamily="2" charset="-34"/>
          <a:ea typeface="+mn-ea"/>
          <a:cs typeface="Prompt Medium" panose="00000600000000000000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8C87-83F1-4A17-A4DE-3B93899C0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Range Sheet</a:t>
            </a:r>
            <a:br>
              <a:rPr lang="en-US" sz="4800" dirty="0"/>
            </a:br>
            <a:r>
              <a:rPr lang="en-US" sz="4000" dirty="0" err="1"/>
              <a:t>Streamlit</a:t>
            </a:r>
            <a:r>
              <a:rPr lang="en-US" sz="4000" dirty="0"/>
              <a:t> Architecture</a:t>
            </a:r>
            <a:endParaRPr lang="en-T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F7760-BE26-E873-3841-EDDDC8491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PiyapornP</a:t>
            </a:r>
            <a:endParaRPr lang="en-US" dirty="0"/>
          </a:p>
          <a:p>
            <a:r>
              <a:rPr lang="en-US" dirty="0"/>
              <a:t>20 May 2026</a:t>
            </a:r>
          </a:p>
        </p:txBody>
      </p:sp>
    </p:spTree>
    <p:extLst>
      <p:ext uri="{BB962C8B-B14F-4D97-AF65-F5344CB8AC3E}">
        <p14:creationId xmlns:p14="http://schemas.microsoft.com/office/powerpoint/2010/main" val="11041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9C5-F4A6-47E7-99C9-875168D6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3" y="133413"/>
            <a:ext cx="10515600" cy="59699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Induction : Space Range Display 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F535-5C00-444D-AE4B-B8FCA0E62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461" y="754228"/>
            <a:ext cx="11485872" cy="56421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844ECB70-3393-4B60-A83A-171ED79370F8}"/>
              </a:ext>
            </a:extLst>
          </p:cNvPr>
          <p:cNvSpPr/>
          <p:nvPr/>
        </p:nvSpPr>
        <p:spPr>
          <a:xfrm>
            <a:off x="714303" y="2201955"/>
            <a:ext cx="1381328" cy="64008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9296D-DDF9-4490-95D5-EFF21495DCA9}"/>
              </a:ext>
            </a:extLst>
          </p:cNvPr>
          <p:cNvSpPr txBox="1"/>
          <p:nvPr/>
        </p:nvSpPr>
        <p:spPr>
          <a:xfrm>
            <a:off x="724031" y="1606113"/>
            <a:ext cx="1371600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RMS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A4D84FA3-F311-4642-8FEC-68B2FF7575A7}"/>
              </a:ext>
            </a:extLst>
          </p:cNvPr>
          <p:cNvSpPr/>
          <p:nvPr/>
        </p:nvSpPr>
        <p:spPr>
          <a:xfrm>
            <a:off x="4301164" y="2737304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Average sales 52 week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00C6FC1-11F2-46B1-8315-091EC9642605}"/>
              </a:ext>
            </a:extLst>
          </p:cNvPr>
          <p:cNvSpPr/>
          <p:nvPr/>
        </p:nvSpPr>
        <p:spPr>
          <a:xfrm>
            <a:off x="4301164" y="3993126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planning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8F593049-BC7E-4126-AEED-1CBE45E3CA46}"/>
              </a:ext>
            </a:extLst>
          </p:cNvPr>
          <p:cNvSpPr/>
          <p:nvPr/>
        </p:nvSpPr>
        <p:spPr>
          <a:xfrm>
            <a:off x="4301164" y="2199015"/>
            <a:ext cx="1371600" cy="640080"/>
          </a:xfrm>
          <a:prstGeom prst="flowChartMagneticDisk">
            <a:avLst/>
          </a:prstGeom>
          <a:solidFill>
            <a:schemeClr val="accent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84A6247-851A-4AEF-9371-72F9B00015D8}"/>
              </a:ext>
            </a:extLst>
          </p:cNvPr>
          <p:cNvSpPr/>
          <p:nvPr/>
        </p:nvSpPr>
        <p:spPr>
          <a:xfrm>
            <a:off x="7623212" y="2199015"/>
            <a:ext cx="1371600" cy="27432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Ordering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96035F-A15F-4D47-8001-6335D36B33AD}"/>
              </a:ext>
            </a:extLst>
          </p:cNvPr>
          <p:cNvCxnSpPr>
            <a:cxnSpLocks/>
          </p:cNvCxnSpPr>
          <p:nvPr/>
        </p:nvCxnSpPr>
        <p:spPr>
          <a:xfrm>
            <a:off x="741669" y="2133990"/>
            <a:ext cx="11209871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43D6CCA-DFCE-4FB3-8BF6-25A17BE38671}"/>
              </a:ext>
            </a:extLst>
          </p:cNvPr>
          <p:cNvCxnSpPr>
            <a:cxnSpLocks/>
            <a:stCxn id="4" idx="4"/>
            <a:endCxn id="9" idx="2"/>
          </p:cNvCxnSpPr>
          <p:nvPr/>
        </p:nvCxnSpPr>
        <p:spPr>
          <a:xfrm flipV="1">
            <a:off x="2095631" y="2519055"/>
            <a:ext cx="2205533" cy="29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CF2DCBD0-B253-45CE-868F-6C777B5BD5F5}"/>
              </a:ext>
            </a:extLst>
          </p:cNvPr>
          <p:cNvSpPr/>
          <p:nvPr/>
        </p:nvSpPr>
        <p:spPr>
          <a:xfrm>
            <a:off x="5998331" y="2199015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Display Group Controls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POG Framework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Event</a:t>
            </a:r>
            <a:b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Master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BA466A-D965-4A4C-9703-2D3CF3D58A9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986964" y="3993126"/>
            <a:ext cx="0" cy="12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3576122-9C05-4E2F-82E2-17388CFA7FFA}"/>
              </a:ext>
            </a:extLst>
          </p:cNvPr>
          <p:cNvSpPr txBox="1"/>
          <p:nvPr/>
        </p:nvSpPr>
        <p:spPr>
          <a:xfrm>
            <a:off x="7623212" y="1440288"/>
            <a:ext cx="1371600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BY –</a:t>
            </a:r>
            <a:r>
              <a:rPr lang="en-US" sz="14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FnR</a:t>
            </a:r>
            <a:endParaRPr lang="en-US" sz="1400" dirty="0">
              <a:solidFill>
                <a:schemeClr val="bg1"/>
              </a:solidFill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E37DD6-B9A5-4B44-8321-FA6F8379785D}"/>
              </a:ext>
            </a:extLst>
          </p:cNvPr>
          <p:cNvSpPr txBox="1"/>
          <p:nvPr/>
        </p:nvSpPr>
        <p:spPr>
          <a:xfrm>
            <a:off x="9219364" y="1511939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E70188-8ED8-480F-846B-9CD65B8C88E2}"/>
              </a:ext>
            </a:extLst>
          </p:cNvPr>
          <p:cNvCxnSpPr>
            <a:cxnSpLocks/>
          </p:cNvCxnSpPr>
          <p:nvPr/>
        </p:nvCxnSpPr>
        <p:spPr>
          <a:xfrm>
            <a:off x="782771" y="1395508"/>
            <a:ext cx="11209870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00A1CBE-DB5E-4CEA-A4AE-B6B0A8B65A17}"/>
              </a:ext>
            </a:extLst>
          </p:cNvPr>
          <p:cNvSpPr txBox="1"/>
          <p:nvPr/>
        </p:nvSpPr>
        <p:spPr>
          <a:xfrm>
            <a:off x="687832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 Maintenance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D624B-5976-47C5-988F-80B2318A7AB7}"/>
              </a:ext>
            </a:extLst>
          </p:cNvPr>
          <p:cNvSpPr txBox="1"/>
          <p:nvPr/>
        </p:nvSpPr>
        <p:spPr>
          <a:xfrm>
            <a:off x="4296531" y="750888"/>
            <a:ext cx="16444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Display Manager</a:t>
            </a:r>
            <a:b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Planner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29E32C-4459-4FAC-A5F2-1234906B40D3}"/>
              </a:ext>
            </a:extLst>
          </p:cNvPr>
          <p:cNvSpPr txBox="1"/>
          <p:nvPr/>
        </p:nvSpPr>
        <p:spPr>
          <a:xfrm>
            <a:off x="5852816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Control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79F5A-1A3F-407F-A39D-DCD9C6087320}"/>
              </a:ext>
            </a:extLst>
          </p:cNvPr>
          <p:cNvSpPr txBox="1"/>
          <p:nvPr/>
        </p:nvSpPr>
        <p:spPr>
          <a:xfrm>
            <a:off x="7554914" y="74107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Supply Chain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730F68-82D6-4A8E-8250-312109E22022}"/>
              </a:ext>
            </a:extLst>
          </p:cNvPr>
          <p:cNvSpPr txBox="1"/>
          <p:nvPr/>
        </p:nvSpPr>
        <p:spPr>
          <a:xfrm>
            <a:off x="9784853" y="75422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Store Operation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496C0-B931-4957-80DC-0207C3F0B5DB}"/>
              </a:ext>
            </a:extLst>
          </p:cNvPr>
          <p:cNvSpPr txBox="1"/>
          <p:nvPr/>
        </p:nvSpPr>
        <p:spPr>
          <a:xfrm>
            <a:off x="5998331" y="1623974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Open Access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65753D-FE91-4ADC-9DA2-337F90E81CCE}"/>
              </a:ext>
            </a:extLst>
          </p:cNvPr>
          <p:cNvSpPr txBox="1"/>
          <p:nvPr/>
        </p:nvSpPr>
        <p:spPr>
          <a:xfrm>
            <a:off x="5974593" y="2880941"/>
            <a:ext cx="1672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POG Attribute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Pending </a:t>
            </a:r>
            <a:r>
              <a:rPr lang="en-US" sz="900" dirty="0" err="1">
                <a:latin typeface="Lotuss Smart HL" panose="02000000000000000000" pitchFamily="2" charset="-34"/>
                <a:cs typeface="Lotuss Smart HL" panose="02000000000000000000" pitchFamily="2" charset="-34"/>
              </a:rPr>
              <a:t>Date,Live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Date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C9A206-FCAC-44B1-84ED-C1EA92752417}"/>
              </a:ext>
            </a:extLst>
          </p:cNvPr>
          <p:cNvSpPr txBox="1"/>
          <p:nvPr/>
        </p:nvSpPr>
        <p:spPr>
          <a:xfrm>
            <a:off x="4301164" y="1512788"/>
            <a:ext cx="13716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BY-JDA </a:t>
            </a:r>
          </a:p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Data Manager</a:t>
            </a:r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BFFCC5BE-DEE9-448A-9B46-8BF855C6A1FD}"/>
              </a:ext>
            </a:extLst>
          </p:cNvPr>
          <p:cNvSpPr/>
          <p:nvPr/>
        </p:nvSpPr>
        <p:spPr>
          <a:xfrm>
            <a:off x="10648248" y="2211125"/>
            <a:ext cx="1371600" cy="274320"/>
          </a:xfrm>
          <a:prstGeom prst="flowChartAlternateProcess">
            <a:avLst/>
          </a:prstGeom>
          <a:solidFill>
            <a:srgbClr val="8497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Receive Order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45077-B545-4D01-BA52-179C669AB3D3}"/>
              </a:ext>
            </a:extLst>
          </p:cNvPr>
          <p:cNvSpPr txBox="1"/>
          <p:nvPr/>
        </p:nvSpPr>
        <p:spPr>
          <a:xfrm>
            <a:off x="7623212" y="1766998"/>
            <a:ext cx="1371600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ORWMS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73F6D2-599D-45F1-8283-DE93DFA6D597}"/>
              </a:ext>
            </a:extLst>
          </p:cNvPr>
          <p:cNvSpPr txBox="1"/>
          <p:nvPr/>
        </p:nvSpPr>
        <p:spPr>
          <a:xfrm>
            <a:off x="7554914" y="1059233"/>
            <a:ext cx="190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Distribution Center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59" name="Flowchart: Multidocument 58">
            <a:extLst>
              <a:ext uri="{FF2B5EF4-FFF2-40B4-BE49-F238E27FC236}">
                <a16:creationId xmlns:a16="http://schemas.microsoft.com/office/drawing/2014/main" id="{9C78C956-E376-4EEA-9DB5-E318AF1ABBBB}"/>
              </a:ext>
            </a:extLst>
          </p:cNvPr>
          <p:cNvSpPr/>
          <p:nvPr/>
        </p:nvSpPr>
        <p:spPr>
          <a:xfrm>
            <a:off x="9915434" y="5036005"/>
            <a:ext cx="1371600" cy="598046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Week Live: Set up Schematic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E6C41EAC-3B78-42B0-936D-589D1963B5BE}"/>
              </a:ext>
            </a:extLst>
          </p:cNvPr>
          <p:cNvSpPr/>
          <p:nvPr/>
        </p:nvSpPr>
        <p:spPr>
          <a:xfrm>
            <a:off x="7623212" y="3039931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DC Receiving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23EBAC23-5410-47DF-9F3F-D4FA0B5F9E1D}"/>
              </a:ext>
            </a:extLst>
          </p:cNvPr>
          <p:cNvSpPr/>
          <p:nvPr/>
        </p:nvSpPr>
        <p:spPr>
          <a:xfrm>
            <a:off x="10677325" y="6064387"/>
            <a:ext cx="1371600" cy="369511"/>
          </a:xfrm>
          <a:prstGeom prst="flowChart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 </a:t>
            </a:r>
          </a:p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online/off line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2D22F9F-148D-401F-90DF-E7936B36F5B0}"/>
              </a:ext>
            </a:extLst>
          </p:cNvPr>
          <p:cNvCxnSpPr>
            <a:cxnSpLocks/>
            <a:stCxn id="10" idx="2"/>
            <a:endCxn id="60" idx="0"/>
          </p:cNvCxnSpPr>
          <p:nvPr/>
        </p:nvCxnSpPr>
        <p:spPr>
          <a:xfrm>
            <a:off x="8309012" y="2473335"/>
            <a:ext cx="0" cy="56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F0CECAB-1ACA-4307-8825-A30CE17FA65B}"/>
              </a:ext>
            </a:extLst>
          </p:cNvPr>
          <p:cNvCxnSpPr>
            <a:cxnSpLocks/>
            <a:stCxn id="80" idx="3"/>
            <a:endCxn id="56" idx="1"/>
          </p:cNvCxnSpPr>
          <p:nvPr/>
        </p:nvCxnSpPr>
        <p:spPr>
          <a:xfrm flipV="1">
            <a:off x="8994812" y="2348285"/>
            <a:ext cx="1653436" cy="15912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1EC6DE2F-808B-4440-927D-9016F3EC242C}"/>
              </a:ext>
            </a:extLst>
          </p:cNvPr>
          <p:cNvGraphicFramePr>
            <a:graphicFrameLocks noGrp="1"/>
          </p:cNvGraphicFramePr>
          <p:nvPr/>
        </p:nvGraphicFramePr>
        <p:xfrm>
          <a:off x="42604" y="803554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PIC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E9AA5707-CA7D-454D-8832-083FCB1C3939}"/>
              </a:ext>
            </a:extLst>
          </p:cNvPr>
          <p:cNvSpPr txBox="1"/>
          <p:nvPr/>
        </p:nvSpPr>
        <p:spPr>
          <a:xfrm>
            <a:off x="10648951" y="1511939"/>
            <a:ext cx="1371600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43B286-6C3D-43F1-81A3-D4722EB1960D}"/>
              </a:ext>
            </a:extLst>
          </p:cNvPr>
          <p:cNvSpPr txBox="1"/>
          <p:nvPr/>
        </p:nvSpPr>
        <p:spPr>
          <a:xfrm>
            <a:off x="5661079" y="4568888"/>
            <a:ext cx="26792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Item/Store/Shelf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Equipment (Fixture)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Inventory rules (day supply ,case multiplies)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Case (LRD Case)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Sales (LRD Sales)</a:t>
            </a:r>
          </a:p>
        </p:txBody>
      </p:sp>
      <p:sp>
        <p:nvSpPr>
          <p:cNvPr id="52" name="Flowchart: Magnetic Disk 51">
            <a:extLst>
              <a:ext uri="{FF2B5EF4-FFF2-40B4-BE49-F238E27FC236}">
                <a16:creationId xmlns:a16="http://schemas.microsoft.com/office/drawing/2014/main" id="{57CAC3AF-2722-4401-B9F8-A707EE56968C}"/>
              </a:ext>
            </a:extLst>
          </p:cNvPr>
          <p:cNvSpPr/>
          <p:nvPr/>
        </p:nvSpPr>
        <p:spPr>
          <a:xfrm>
            <a:off x="714303" y="3069861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 - Azure 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- Sales - Store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3810102-49B1-48B2-B1C6-2E673297B76D}"/>
              </a:ext>
            </a:extLst>
          </p:cNvPr>
          <p:cNvCxnSpPr>
            <a:cxnSpLocks/>
            <a:stCxn id="4" idx="3"/>
            <a:endCxn id="52" idx="1"/>
          </p:cNvCxnSpPr>
          <p:nvPr/>
        </p:nvCxnSpPr>
        <p:spPr>
          <a:xfrm rot="5400000">
            <a:off x="1288622" y="2953516"/>
            <a:ext cx="227826" cy="4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Multidocument 70">
            <a:extLst>
              <a:ext uri="{FF2B5EF4-FFF2-40B4-BE49-F238E27FC236}">
                <a16:creationId xmlns:a16="http://schemas.microsoft.com/office/drawing/2014/main" id="{8BAB49C9-AB9D-4D63-AE65-068F6BC71DE9}"/>
              </a:ext>
            </a:extLst>
          </p:cNvPr>
          <p:cNvSpPr/>
          <p:nvPr/>
        </p:nvSpPr>
        <p:spPr>
          <a:xfrm>
            <a:off x="2389403" y="5866332"/>
            <a:ext cx="1371600" cy="751890"/>
          </a:xfrm>
          <a:prstGeom prst="flowChartMultidocumen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Power BI Dashboard</a:t>
            </a:r>
          </a:p>
        </p:txBody>
      </p:sp>
      <p:sp>
        <p:nvSpPr>
          <p:cNvPr id="78" name="Flowchart: Multidocument 77">
            <a:extLst>
              <a:ext uri="{FF2B5EF4-FFF2-40B4-BE49-F238E27FC236}">
                <a16:creationId xmlns:a16="http://schemas.microsoft.com/office/drawing/2014/main" id="{83A2373E-6C15-4A90-832E-8B40DF0CC52F}"/>
              </a:ext>
            </a:extLst>
          </p:cNvPr>
          <p:cNvSpPr/>
          <p:nvPr/>
        </p:nvSpPr>
        <p:spPr>
          <a:xfrm>
            <a:off x="6060621" y="5351753"/>
            <a:ext cx="1371600" cy="731520"/>
          </a:xfrm>
          <a:prstGeom prst="flowChartMulti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JDA  </a:t>
            </a: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Report / Table / Highlight / Label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26BC4808-DC18-4519-BDA7-1649CA7C6633}"/>
              </a:ext>
            </a:extLst>
          </p:cNvPr>
          <p:cNvCxnSpPr>
            <a:cxnSpLocks/>
            <a:stCxn id="52" idx="4"/>
            <a:endCxn id="168" idx="2"/>
          </p:cNvCxnSpPr>
          <p:nvPr/>
        </p:nvCxnSpPr>
        <p:spPr>
          <a:xfrm flipV="1">
            <a:off x="2085903" y="3059602"/>
            <a:ext cx="300395" cy="330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3DF8BA6-41C4-4333-ADD3-1A6D5B45AA22}"/>
              </a:ext>
            </a:extLst>
          </p:cNvPr>
          <p:cNvSpPr txBox="1"/>
          <p:nvPr/>
        </p:nvSpPr>
        <p:spPr>
          <a:xfrm>
            <a:off x="10568495" y="2546763"/>
            <a:ext cx="15601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If product not on POG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ได้ด้วยราคา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EDLP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ปรับราคาไม่ได้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SC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เปิด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แล้วจะส่งสินค้าไม่ได้ (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no location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)</a:t>
            </a:r>
            <a:endParaRPr lang="en-US" sz="900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64" name="Flowchart: Magnetic Disk 63">
            <a:extLst>
              <a:ext uri="{FF2B5EF4-FFF2-40B4-BE49-F238E27FC236}">
                <a16:creationId xmlns:a16="http://schemas.microsoft.com/office/drawing/2014/main" id="{A5F6BC84-7BB5-4A78-9E46-FCA556AF7616}"/>
              </a:ext>
            </a:extLst>
          </p:cNvPr>
          <p:cNvSpPr/>
          <p:nvPr/>
        </p:nvSpPr>
        <p:spPr>
          <a:xfrm>
            <a:off x="2375078" y="4927128"/>
            <a:ext cx="1371600" cy="618186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 (</a:t>
            </a:r>
            <a:r>
              <a:rPr lang="en-US" sz="9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Mckinsey</a:t>
            </a:r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)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A4B59-E7F2-40BE-994A-7C010D4CAA50}"/>
              </a:ext>
            </a:extLst>
          </p:cNvPr>
          <p:cNvSpPr txBox="1"/>
          <p:nvPr/>
        </p:nvSpPr>
        <p:spPr>
          <a:xfrm>
            <a:off x="2290601" y="762535"/>
            <a:ext cx="1404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Merchandiser</a:t>
            </a:r>
          </a:p>
        </p:txBody>
      </p:sp>
      <p:sp>
        <p:nvSpPr>
          <p:cNvPr id="67" name="Flowchart: Magnetic Disk 66">
            <a:extLst>
              <a:ext uri="{FF2B5EF4-FFF2-40B4-BE49-F238E27FC236}">
                <a16:creationId xmlns:a16="http://schemas.microsoft.com/office/drawing/2014/main" id="{D24DC103-6CCE-4EE0-A23C-CE4FDD6F4809}"/>
              </a:ext>
            </a:extLst>
          </p:cNvPr>
          <p:cNvSpPr/>
          <p:nvPr/>
        </p:nvSpPr>
        <p:spPr>
          <a:xfrm>
            <a:off x="4301164" y="5832007"/>
            <a:ext cx="1371600" cy="640080"/>
          </a:xfrm>
          <a:prstGeom prst="flowChartMagneticDisk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Fixture Ordering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(Property)</a:t>
            </a:r>
          </a:p>
        </p:txBody>
      </p:sp>
      <p:sp>
        <p:nvSpPr>
          <p:cNvPr id="82" name="Flowchart: Magnetic Disk 81">
            <a:extLst>
              <a:ext uri="{FF2B5EF4-FFF2-40B4-BE49-F238E27FC236}">
                <a16:creationId xmlns:a16="http://schemas.microsoft.com/office/drawing/2014/main" id="{39EDE420-7CB7-4CF4-91BE-3E02D91F137A}"/>
              </a:ext>
            </a:extLst>
          </p:cNvPr>
          <p:cNvSpPr/>
          <p:nvPr/>
        </p:nvSpPr>
        <p:spPr>
          <a:xfrm>
            <a:off x="4301164" y="4829988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– Store - Shelf capacity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New / Delete</a:t>
            </a:r>
          </a:p>
        </p:txBody>
      </p:sp>
      <p:sp>
        <p:nvSpPr>
          <p:cNvPr id="51" name="Wave 50">
            <a:extLst>
              <a:ext uri="{FF2B5EF4-FFF2-40B4-BE49-F238E27FC236}">
                <a16:creationId xmlns:a16="http://schemas.microsoft.com/office/drawing/2014/main" id="{1327561F-A1F2-4249-AD0B-2B73E809418D}"/>
              </a:ext>
            </a:extLst>
          </p:cNvPr>
          <p:cNvSpPr/>
          <p:nvPr/>
        </p:nvSpPr>
        <p:spPr>
          <a:xfrm>
            <a:off x="2386298" y="3425322"/>
            <a:ext cx="1371600" cy="1213436"/>
          </a:xfrm>
          <a:prstGeom prst="wav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 (Macro, Excel)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User can add new range , edit /delete/retain Range 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CB237BD-A86F-4103-BB8B-ADC2D798C919}"/>
              </a:ext>
            </a:extLst>
          </p:cNvPr>
          <p:cNvCxnSpPr>
            <a:cxnSpLocks/>
            <a:stCxn id="82" idx="4"/>
            <a:endCxn id="10" idx="1"/>
          </p:cNvCxnSpPr>
          <p:nvPr/>
        </p:nvCxnSpPr>
        <p:spPr>
          <a:xfrm flipV="1">
            <a:off x="5672764" y="2336175"/>
            <a:ext cx="1950448" cy="2813853"/>
          </a:xfrm>
          <a:prstGeom prst="bentConnector3">
            <a:avLst>
              <a:gd name="adj1" fmla="val 912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2EB0DCF-5EBF-4C1B-99D2-0EB3AFF3F367}"/>
              </a:ext>
            </a:extLst>
          </p:cNvPr>
          <p:cNvCxnSpPr>
            <a:cxnSpLocks/>
            <a:stCxn id="82" idx="4"/>
            <a:endCxn id="224" idx="1"/>
          </p:cNvCxnSpPr>
          <p:nvPr/>
        </p:nvCxnSpPr>
        <p:spPr>
          <a:xfrm flipV="1">
            <a:off x="5672764" y="4440202"/>
            <a:ext cx="3546600" cy="709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F6E83BA-63CB-4872-880A-8F202DD93894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4986964" y="3377384"/>
            <a:ext cx="0" cy="14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Magnetic Disk 167">
            <a:extLst>
              <a:ext uri="{FF2B5EF4-FFF2-40B4-BE49-F238E27FC236}">
                <a16:creationId xmlns:a16="http://schemas.microsoft.com/office/drawing/2014/main" id="{5578C738-B123-4FB0-A5F7-15873AED041C}"/>
              </a:ext>
            </a:extLst>
          </p:cNvPr>
          <p:cNvSpPr/>
          <p:nvPr/>
        </p:nvSpPr>
        <p:spPr>
          <a:xfrm>
            <a:off x="2386298" y="2739562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Daily Sales-Product-Store</a:t>
            </a: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B78E106-339A-4377-B179-A51294D946A1}"/>
              </a:ext>
            </a:extLst>
          </p:cNvPr>
          <p:cNvCxnSpPr>
            <a:cxnSpLocks/>
            <a:stCxn id="52" idx="3"/>
            <a:endCxn id="71" idx="1"/>
          </p:cNvCxnSpPr>
          <p:nvPr/>
        </p:nvCxnSpPr>
        <p:spPr>
          <a:xfrm rot="16200000" flipH="1">
            <a:off x="628585" y="4481459"/>
            <a:ext cx="2532336" cy="98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3F900ABA-BC0D-4B42-8250-73FC1AB94EA2}"/>
              </a:ext>
            </a:extLst>
          </p:cNvPr>
          <p:cNvCxnSpPr>
            <a:stCxn id="168" idx="4"/>
            <a:endCxn id="7" idx="2"/>
          </p:cNvCxnSpPr>
          <p:nvPr/>
        </p:nvCxnSpPr>
        <p:spPr>
          <a:xfrm flipV="1">
            <a:off x="3757898" y="3057344"/>
            <a:ext cx="543266" cy="2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AAB46FA-3681-4502-AD38-64831C1216EC}"/>
              </a:ext>
            </a:extLst>
          </p:cNvPr>
          <p:cNvCxnSpPr>
            <a:cxnSpLocks/>
            <a:stCxn id="8" idx="3"/>
            <a:endCxn id="82" idx="1"/>
          </p:cNvCxnSpPr>
          <p:nvPr/>
        </p:nvCxnSpPr>
        <p:spPr>
          <a:xfrm>
            <a:off x="4986964" y="4633206"/>
            <a:ext cx="0" cy="196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6DA982D9-73E5-423D-BDE9-547E513F9949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 rot="16200000" flipH="1">
            <a:off x="5400070" y="5056961"/>
            <a:ext cx="247445" cy="10736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CFC70238-1955-4D4F-B47B-A6D5B83A6597}"/>
              </a:ext>
            </a:extLst>
          </p:cNvPr>
          <p:cNvCxnSpPr>
            <a:cxnSpLocks/>
            <a:stCxn id="59" idx="3"/>
            <a:endCxn id="61" idx="0"/>
          </p:cNvCxnSpPr>
          <p:nvPr/>
        </p:nvCxnSpPr>
        <p:spPr>
          <a:xfrm>
            <a:off x="11287034" y="5335028"/>
            <a:ext cx="76091" cy="7293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Wave 223">
            <a:extLst>
              <a:ext uri="{FF2B5EF4-FFF2-40B4-BE49-F238E27FC236}">
                <a16:creationId xmlns:a16="http://schemas.microsoft.com/office/drawing/2014/main" id="{9F1FE4A5-783B-4BBB-9948-7A1F921FCE22}"/>
              </a:ext>
            </a:extLst>
          </p:cNvPr>
          <p:cNvSpPr/>
          <p:nvPr/>
        </p:nvSpPr>
        <p:spPr>
          <a:xfrm>
            <a:off x="9219364" y="4072009"/>
            <a:ext cx="1361284" cy="736386"/>
          </a:xfrm>
          <a:prstGeom prst="wav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9C107522-6BFE-433D-A88A-B49A4A4BF44C}"/>
              </a:ext>
            </a:extLst>
          </p:cNvPr>
          <p:cNvCxnSpPr>
            <a:cxnSpLocks/>
            <a:stCxn id="51" idx="3"/>
            <a:endCxn id="5" idx="2"/>
          </p:cNvCxnSpPr>
          <p:nvPr/>
        </p:nvCxnSpPr>
        <p:spPr>
          <a:xfrm flipV="1">
            <a:off x="3757898" y="3819532"/>
            <a:ext cx="543266" cy="21250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DC8AD01C-D2A2-433F-B3FD-BD8855030CDC}"/>
              </a:ext>
            </a:extLst>
          </p:cNvPr>
          <p:cNvCxnSpPr>
            <a:cxnSpLocks/>
            <a:stCxn id="67" idx="4"/>
            <a:endCxn id="59" idx="2"/>
          </p:cNvCxnSpPr>
          <p:nvPr/>
        </p:nvCxnSpPr>
        <p:spPr>
          <a:xfrm flipV="1">
            <a:off x="5672764" y="5611403"/>
            <a:ext cx="4833093" cy="5406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CD8A98-FFD9-4B67-BDAC-54128AE125BD}"/>
              </a:ext>
            </a:extLst>
          </p:cNvPr>
          <p:cNvSpPr/>
          <p:nvPr/>
        </p:nvSpPr>
        <p:spPr>
          <a:xfrm>
            <a:off x="2138993" y="3437950"/>
            <a:ext cx="1855947" cy="2140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D134D2-C45D-4625-A630-9337A7DE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86" y="3523443"/>
            <a:ext cx="3135330" cy="2087960"/>
          </a:xfrm>
          <a:prstGeom prst="rect">
            <a:avLst/>
          </a:prstGeom>
        </p:spPr>
      </p:pic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A7E99A9-A024-40C6-B47E-2F2CB8EB1336}"/>
              </a:ext>
            </a:extLst>
          </p:cNvPr>
          <p:cNvGraphicFramePr>
            <a:graphicFrameLocks noGrp="1"/>
          </p:cNvGraphicFramePr>
          <p:nvPr/>
        </p:nvGraphicFramePr>
        <p:xfrm>
          <a:off x="32828" y="1477990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Tools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934A221E-5D6D-4E2A-90DD-E0E2FEE2B3A7}"/>
              </a:ext>
            </a:extLst>
          </p:cNvPr>
          <p:cNvSpPr/>
          <p:nvPr/>
        </p:nvSpPr>
        <p:spPr>
          <a:xfrm>
            <a:off x="7623212" y="3802388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Delivery to Store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89F386-A9BE-4AB4-9397-BA34D68296D9}"/>
              </a:ext>
            </a:extLst>
          </p:cNvPr>
          <p:cNvCxnSpPr>
            <a:cxnSpLocks/>
            <a:stCxn id="60" idx="2"/>
            <a:endCxn id="80" idx="0"/>
          </p:cNvCxnSpPr>
          <p:nvPr/>
        </p:nvCxnSpPr>
        <p:spPr>
          <a:xfrm>
            <a:off x="8309012" y="3314251"/>
            <a:ext cx="0" cy="48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227369F5-6E28-4899-95CA-3B4B085B0B32}"/>
              </a:ext>
            </a:extLst>
          </p:cNvPr>
          <p:cNvSpPr/>
          <p:nvPr/>
        </p:nvSpPr>
        <p:spPr>
          <a:xfrm>
            <a:off x="4301164" y="3523442"/>
            <a:ext cx="1371600" cy="592179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Space planning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Planogram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C4F8685-2D1A-4853-8502-502FEB545F6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>
            <a:off x="11334048" y="2485445"/>
            <a:ext cx="29077" cy="357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7A267955-B901-43A7-811A-2114E39561E8}"/>
              </a:ext>
            </a:extLst>
          </p:cNvPr>
          <p:cNvCxnSpPr>
            <a:cxnSpLocks/>
            <a:stCxn id="224" idx="3"/>
            <a:endCxn id="59" idx="0"/>
          </p:cNvCxnSpPr>
          <p:nvPr/>
        </p:nvCxnSpPr>
        <p:spPr>
          <a:xfrm>
            <a:off x="10580648" y="4440202"/>
            <a:ext cx="114947" cy="5958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44C0F578-539E-4888-92D3-1CDA699E181E}"/>
              </a:ext>
            </a:extLst>
          </p:cNvPr>
          <p:cNvCxnSpPr>
            <a:cxnSpLocks/>
            <a:stCxn id="61" idx="2"/>
            <a:endCxn id="52" idx="2"/>
          </p:cNvCxnSpPr>
          <p:nvPr/>
        </p:nvCxnSpPr>
        <p:spPr>
          <a:xfrm rot="5400000" flipH="1">
            <a:off x="4516715" y="-412511"/>
            <a:ext cx="3043997" cy="10648822"/>
          </a:xfrm>
          <a:prstGeom prst="bentConnector4">
            <a:avLst>
              <a:gd name="adj1" fmla="val -7510"/>
              <a:gd name="adj2" fmla="val 1021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88CEB65B-7B38-4026-A309-933DC543D924}"/>
              </a:ext>
            </a:extLst>
          </p:cNvPr>
          <p:cNvCxnSpPr>
            <a:cxnSpLocks/>
            <a:stCxn id="64" idx="1"/>
            <a:endCxn id="51" idx="2"/>
          </p:cNvCxnSpPr>
          <p:nvPr/>
        </p:nvCxnSpPr>
        <p:spPr>
          <a:xfrm flipV="1">
            <a:off x="3060878" y="4487079"/>
            <a:ext cx="11220" cy="440049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258A2523-989D-4E2A-9FD3-5A48F56FBCCF}"/>
              </a:ext>
            </a:extLst>
          </p:cNvPr>
          <p:cNvCxnSpPr>
            <a:cxnSpLocks/>
            <a:stCxn id="8" idx="2"/>
            <a:endCxn id="67" idx="2"/>
          </p:cNvCxnSpPr>
          <p:nvPr/>
        </p:nvCxnSpPr>
        <p:spPr>
          <a:xfrm rot="10800000" flipV="1">
            <a:off x="4301164" y="4313165"/>
            <a:ext cx="12700" cy="183888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10DCD16-0BB5-4AC8-A2A5-8BFC3ACA1F35}"/>
              </a:ext>
            </a:extLst>
          </p:cNvPr>
          <p:cNvSpPr txBox="1"/>
          <p:nvPr/>
        </p:nvSpPr>
        <p:spPr>
          <a:xfrm>
            <a:off x="2375078" y="1415919"/>
            <a:ext cx="1371600" cy="310896"/>
          </a:xfrm>
          <a:prstGeom prst="rect">
            <a:avLst/>
          </a:prstGeom>
          <a:solidFill>
            <a:srgbClr val="70AD4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8E035F9-67E0-445A-94AC-CC6AF020E761}"/>
              </a:ext>
            </a:extLst>
          </p:cNvPr>
          <p:cNvSpPr txBox="1"/>
          <p:nvPr/>
        </p:nvSpPr>
        <p:spPr>
          <a:xfrm>
            <a:off x="2365146" y="1770703"/>
            <a:ext cx="1371600" cy="2308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1668AF3-EFC6-4527-B85A-3D985244AB3D}"/>
              </a:ext>
            </a:extLst>
          </p:cNvPr>
          <p:cNvCxnSpPr>
            <a:cxnSpLocks/>
          </p:cNvCxnSpPr>
          <p:nvPr/>
        </p:nvCxnSpPr>
        <p:spPr>
          <a:xfrm rot="5400000" flipH="1">
            <a:off x="2935223" y="3514571"/>
            <a:ext cx="1427769" cy="2675712"/>
          </a:xfrm>
          <a:prstGeom prst="bentConnector4">
            <a:avLst>
              <a:gd name="adj1" fmla="val -10561"/>
              <a:gd name="adj2" fmla="val 1206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3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17DAD-212B-4816-823B-6EA31C36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60" y="0"/>
            <a:ext cx="677451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3CE85B-9A53-48F5-885C-BC525CE8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98" y="168955"/>
            <a:ext cx="3488662" cy="145334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Sheet: </a:t>
            </a:r>
            <a:r>
              <a:rPr lang="en-US" sz="30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High level design</a:t>
            </a:r>
          </a:p>
        </p:txBody>
      </p:sp>
    </p:spTree>
    <p:extLst>
      <p:ext uri="{BB962C8B-B14F-4D97-AF65-F5344CB8AC3E}">
        <p14:creationId xmlns:p14="http://schemas.microsoft.com/office/powerpoint/2010/main" val="5503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7A98-4BFF-4499-A9B8-6637B98F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74"/>
            <a:ext cx="11011894" cy="57292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0070C0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A462-C45B-4104-8CBD-F4AB1D94D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B234F-BFB9-4398-8EEC-8B128833F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0"/>
          <a:stretch/>
        </p:blipFill>
        <p:spPr>
          <a:xfrm>
            <a:off x="0" y="832207"/>
            <a:ext cx="12192000" cy="56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84CF-8FED-44A8-B213-83AB8ED5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9CA75-BB61-4F66-AF7D-C6F30519D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F65DC2-4FDF-4F46-9734-1063B922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6" y="197962"/>
            <a:ext cx="11278385" cy="629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4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C963-C7D7-4AC7-AD27-DD214309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5BB811-8FB2-4B12-83E5-CD1655704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04" y="126825"/>
            <a:ext cx="11739680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2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C894-B161-4C97-907D-2157C1C7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813643-1805-427B-9D12-8C7FC963B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84" y="204704"/>
            <a:ext cx="11490000" cy="641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2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4AB0-DE73-477C-A4EE-D4BF4205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62A54-6B58-4644-B054-58F439545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53" y="125513"/>
            <a:ext cx="11837494" cy="66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5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273A-2896-442C-BABB-A8F969F9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D904BA-47A7-4408-BD49-989F16F4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34" y="214091"/>
            <a:ext cx="11249486" cy="627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194-E529-4247-9BEB-FC4E635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15" y="-11615"/>
            <a:ext cx="10877502" cy="78070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AI Range sheet Intelligence :Internship Program Plan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EEA9F4B-AD88-4B9B-8A3A-3B877F6DE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10770"/>
              </p:ext>
            </p:extLst>
          </p:nvPr>
        </p:nvGraphicFramePr>
        <p:xfrm>
          <a:off x="277515" y="1172837"/>
          <a:ext cx="11636970" cy="504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97">
                  <a:extLst>
                    <a:ext uri="{9D8B030D-6E8A-4147-A177-3AD203B41FA5}">
                      <a16:colId xmlns:a16="http://schemas.microsoft.com/office/drawing/2014/main" val="83252944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577126314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02979869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76963950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91136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480802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321889397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13387142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82292749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5948111"/>
                    </a:ext>
                  </a:extLst>
                </a:gridCol>
              </a:tblGrid>
              <a:tr h="71244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 &amp; Tooling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.csv Data Ingestion &amp; UI Foundations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 Management Interface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Persistence &amp; Final Delivery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Phase 5</a:t>
                      </a:r>
                    </a:p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186931"/>
                  </a:ext>
                </a:extLst>
              </a:tr>
              <a:tr h="3392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Intern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 – 5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W2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8 - 12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15 - 19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W4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22 – 26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29 Jun – 3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W6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6 – 10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13 – 17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W8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20 – 24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Aug- Sep</a:t>
                      </a:r>
                      <a:b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</a:br>
                      <a:r>
                        <a:rPr lang="th-TH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</a:t>
                      </a: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2Days/W</a:t>
                      </a:r>
                      <a:endParaRPr lang="en-US" sz="11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68141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ชนิตสิรี ดัชถุยาวัตร์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เมษา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เฮงสุวรรณ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ปุยฝ้าย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Establish the developer workflow and Git repository.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Set up Python virtual environments (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venv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/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Conda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 and define code quality standards (Black/Flake8).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endParaRPr lang="en-US" sz="4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 ingestion scripts specifically for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Profile data from McKinsey AI, NBS, and Range Tail provided in CSV format to populate initial data frames using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Pandas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Build the core application layout in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Implement the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st.data_editor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grid for bulk editing and an "Excel-like" experience.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Code the logic for AI recommendations: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Keep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Delete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(session removal),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New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(entry validation), and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Delist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(status change to Inactive),.</a:t>
                      </a:r>
                    </a:p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Finalize the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"Save" functionality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using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SQLAlchemy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to persist edits directly to the database.</a:t>
                      </a:r>
                    </a:p>
                    <a:p>
                      <a:pPr lvl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Note: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In line with updated requirements,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validation checks for race conditions or conflicts are omitted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save trigger.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Conduct with uses &amp; UAT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04183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Updated Technical Requirements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Data Source: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All primary data inputs (McKinsey AI, NBS, Range Tail) will be handled via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 imports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rather than live API/SQL connections.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Save Trigger: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The "Save" action initiates a direct database transaction. No additional validation layer is required for this internship scope.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Interface: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A high-performance grid supporting bulk edits with strict type-checking.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Development Stack: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100% pure Python, leveraging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UI and Pandas for data manipulation,.</a:t>
                      </a:r>
                    </a:p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64139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Success Criteria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The project will be evaluated on the delivery of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fully functional </a:t>
                      </a:r>
                      <a:r>
                        <a:rPr lang="en-US" sz="1000" b="1" dirty="0" err="1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web app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capable of importing .csv data and demonstrating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verified write-back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to the database. This ensures a robust, persistent data architecture is established even within the simplified internship scope.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226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16DFD0-9CC4-44F3-9FB3-F64601C812FF}"/>
              </a:ext>
            </a:extLst>
          </p:cNvPr>
          <p:cNvSpPr txBox="1"/>
          <p:nvPr/>
        </p:nvSpPr>
        <p:spPr>
          <a:xfrm>
            <a:off x="135553" y="595975"/>
            <a:ext cx="11778932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The goal of this internship project is to replace manual, error-prone Excel processes with a scalable, automated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Python and </a:t>
            </a:r>
            <a:r>
              <a:rPr lang="en-US" sz="1000" b="1" dirty="0" err="1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Streamlit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application. By utilizing a free, open-source stack, the project will streamline SKU management through a high-performance grid interface. This version of the project is optimized for rapid delivery, moving from static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.csv data ingestion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directly to database persistence and final deployment.</a:t>
            </a:r>
            <a:endParaRPr lang="en-US" sz="1000" dirty="0">
              <a:effectLst/>
              <a:latin typeface="Lotuss Smart HL" panose="02000000000000000000" pitchFamily="2" charset="-34"/>
              <a:ea typeface="Lotuss Smart HL" panose="02000000000000000000" pitchFamily="2" charset="-34"/>
              <a:cs typeface="Lotuss Smart HL" panose="02000000000000000000" pitchFamily="2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4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48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21CD70-4AB8-4217-AF07-E009E98D85A3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D3F87-2472-4B11-A8C7-6D02C38E2C39}"/>
              </a:ext>
            </a:extLst>
          </p:cNvPr>
          <p:cNvSpPr txBox="1"/>
          <p:nvPr/>
        </p:nvSpPr>
        <p:spPr>
          <a:xfrm>
            <a:off x="482600" y="381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AI IN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2B4E3-83A9-4682-B4BF-28882F45D575}"/>
              </a:ext>
            </a:extLst>
          </p:cNvPr>
          <p:cNvSpPr txBox="1"/>
          <p:nvPr/>
        </p:nvSpPr>
        <p:spPr>
          <a:xfrm>
            <a:off x="482600" y="787400"/>
            <a:ext cx="8763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11827"/>
                </a:solidFill>
                <a:latin typeface="Aptos"/>
              </a:rPr>
              <a:t>AI helped make a complex real-data web app feasible within the timeline.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8A4BE-8F54-4682-B116-0D3E3F9F76D8}"/>
              </a:ext>
            </a:extLst>
          </p:cNvPr>
          <p:cNvSpPr txBox="1"/>
          <p:nvPr/>
        </p:nvSpPr>
        <p:spPr>
          <a:xfrm>
            <a:off x="508000" y="1549400"/>
            <a:ext cx="876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ptos"/>
              </a:rPr>
              <a:t>The project moved beyond classroom examples: large CSV files, connected filters, editable grids, business rules, reports, roles, audit logs, and performance constraints had to work together.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2D2B08-3CB1-4434-9683-CFC7EFA0BB13}"/>
              </a:ext>
            </a:extLst>
          </p:cNvPr>
          <p:cNvSpPr/>
          <p:nvPr/>
        </p:nvSpPr>
        <p:spPr>
          <a:xfrm>
            <a:off x="6096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BF946E-CFF6-4CA4-947D-8DBBF5E71742}"/>
              </a:ext>
            </a:extLst>
          </p:cNvPr>
          <p:cNvSpPr/>
          <p:nvPr/>
        </p:nvSpPr>
        <p:spPr>
          <a:xfrm>
            <a:off x="609600" y="24130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63D0D-BB07-4094-8807-37D91F4404FA}"/>
              </a:ext>
            </a:extLst>
          </p:cNvPr>
          <p:cNvSpPr txBox="1"/>
          <p:nvPr/>
        </p:nvSpPr>
        <p:spPr>
          <a:xfrm>
            <a:off x="8128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Time constraint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3F56C-C89F-49F2-BC3B-33205F53E5D2}"/>
              </a:ext>
            </a:extLst>
          </p:cNvPr>
          <p:cNvSpPr txBox="1"/>
          <p:nvPr/>
        </p:nvSpPr>
        <p:spPr>
          <a:xfrm>
            <a:off x="812800" y="29464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Manual coding alone would not have been enough to build and debug all requested features in the short development window.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417F12-B264-41E4-B9E0-25E6FC9CC198}"/>
              </a:ext>
            </a:extLst>
          </p:cNvPr>
          <p:cNvSpPr/>
          <p:nvPr/>
        </p:nvSpPr>
        <p:spPr>
          <a:xfrm>
            <a:off x="34417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F93C8-9FE3-4353-88D5-C58D15BBB33E}"/>
              </a:ext>
            </a:extLst>
          </p:cNvPr>
          <p:cNvSpPr/>
          <p:nvPr/>
        </p:nvSpPr>
        <p:spPr>
          <a:xfrm>
            <a:off x="3441700" y="24130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517DE-A3DE-45BF-9BFD-CB92B579D152}"/>
              </a:ext>
            </a:extLst>
          </p:cNvPr>
          <p:cNvSpPr txBox="1"/>
          <p:nvPr/>
        </p:nvSpPr>
        <p:spPr>
          <a:xfrm>
            <a:off x="36449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Real business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79474-8275-41E1-96FB-7F58629D0937}"/>
              </a:ext>
            </a:extLst>
          </p:cNvPr>
          <p:cNvSpPr txBox="1"/>
          <p:nvPr/>
        </p:nvSpPr>
        <p:spPr>
          <a:xfrm>
            <a:off x="36449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The app handled large operational datasets where small logic errors could affect tables, reports, and user decisions.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8B9911-E1C5-40AA-96DA-A0447771E621}"/>
              </a:ext>
            </a:extLst>
          </p:cNvPr>
          <p:cNvSpPr/>
          <p:nvPr/>
        </p:nvSpPr>
        <p:spPr>
          <a:xfrm>
            <a:off x="62738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DB4FCC-DAFD-4487-9086-D6C5EFD72D30}"/>
              </a:ext>
            </a:extLst>
          </p:cNvPr>
          <p:cNvSpPr/>
          <p:nvPr/>
        </p:nvSpPr>
        <p:spPr>
          <a:xfrm>
            <a:off x="6273800" y="24130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921C1-CC97-4800-A6A9-D7573D8F28CA}"/>
              </a:ext>
            </a:extLst>
          </p:cNvPr>
          <p:cNvSpPr txBox="1"/>
          <p:nvPr/>
        </p:nvSpPr>
        <p:spPr>
          <a:xfrm>
            <a:off x="64770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Higher complexity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0F611D-6AC4-4EDF-A057-6843A83FE738}"/>
              </a:ext>
            </a:extLst>
          </p:cNvPr>
          <p:cNvSpPr txBox="1"/>
          <p:nvPr/>
        </p:nvSpPr>
        <p:spPr>
          <a:xfrm>
            <a:off x="6477000" y="29464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Changes in one cell needed to update status, cluster summaries, range architecture, autosave, chatbot behavior, and report output.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1C9B7A-F449-41E4-9B18-5FACD041CF82}"/>
              </a:ext>
            </a:extLst>
          </p:cNvPr>
          <p:cNvSpPr/>
          <p:nvPr/>
        </p:nvSpPr>
        <p:spPr>
          <a:xfrm>
            <a:off x="6096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7D1A3C-C848-401B-895F-6064B888DBCB}"/>
              </a:ext>
            </a:extLst>
          </p:cNvPr>
          <p:cNvSpPr/>
          <p:nvPr/>
        </p:nvSpPr>
        <p:spPr>
          <a:xfrm>
            <a:off x="609600" y="38862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0B104-31FB-4003-AC13-6E734413009D}"/>
              </a:ext>
            </a:extLst>
          </p:cNvPr>
          <p:cNvSpPr txBox="1"/>
          <p:nvPr/>
        </p:nvSpPr>
        <p:spPr>
          <a:xfrm>
            <a:off x="8128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Unexpected issues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C79373-784C-47E4-8838-87BF177FCFE2}"/>
              </a:ext>
            </a:extLst>
          </p:cNvPr>
          <p:cNvSpPr txBox="1"/>
          <p:nvPr/>
        </p:nvSpPr>
        <p:spPr>
          <a:xfrm>
            <a:off x="8128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Performance bottlenecks, column-name mismatches, stale state, and UI reruns appeared during actual use.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EB689A9-A91A-448C-8606-A02B5060BCD5}"/>
              </a:ext>
            </a:extLst>
          </p:cNvPr>
          <p:cNvSpPr/>
          <p:nvPr/>
        </p:nvSpPr>
        <p:spPr>
          <a:xfrm>
            <a:off x="34417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D60473-4278-4865-A779-2D9D7A2C45FE}"/>
              </a:ext>
            </a:extLst>
          </p:cNvPr>
          <p:cNvSpPr/>
          <p:nvPr/>
        </p:nvSpPr>
        <p:spPr>
          <a:xfrm>
            <a:off x="3441700" y="38862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A267D4-16F7-4883-96CD-6259B21FDC2A}"/>
              </a:ext>
            </a:extLst>
          </p:cNvPr>
          <p:cNvSpPr txBox="1"/>
          <p:nvPr/>
        </p:nvSpPr>
        <p:spPr>
          <a:xfrm>
            <a:off x="36449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AI as support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8394EA-23FE-4B49-BA1D-56A83BFF5DEA}"/>
              </a:ext>
            </a:extLst>
          </p:cNvPr>
          <p:cNvSpPr txBox="1"/>
          <p:nvPr/>
        </p:nvSpPr>
        <p:spPr>
          <a:xfrm>
            <a:off x="36449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AI was used to explain errors, suggest fixes, compare approaches, and speed up iteration.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F654D70-D734-4874-B2D0-9E1E73001397}"/>
              </a:ext>
            </a:extLst>
          </p:cNvPr>
          <p:cNvSpPr/>
          <p:nvPr/>
        </p:nvSpPr>
        <p:spPr>
          <a:xfrm>
            <a:off x="62738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421CA2-D258-4890-96D6-FAC97838FDE4}"/>
              </a:ext>
            </a:extLst>
          </p:cNvPr>
          <p:cNvSpPr/>
          <p:nvPr/>
        </p:nvSpPr>
        <p:spPr>
          <a:xfrm>
            <a:off x="6273800" y="38862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8B3525-492B-46AD-B738-971A8CAC7530}"/>
              </a:ext>
            </a:extLst>
          </p:cNvPr>
          <p:cNvSpPr txBox="1"/>
          <p:nvPr/>
        </p:nvSpPr>
        <p:spPr>
          <a:xfrm>
            <a:off x="64770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Human judgment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7DC206-762C-4529-9D1D-997E9A523002}"/>
              </a:ext>
            </a:extLst>
          </p:cNvPr>
          <p:cNvSpPr txBox="1"/>
          <p:nvPr/>
        </p:nvSpPr>
        <p:spPr>
          <a:xfrm>
            <a:off x="64770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Requirements, business rules, validation, and final decisions still had to be checked by the developer.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3C72A6-EBC0-4713-806C-EBCCE9BC0C21}"/>
              </a:ext>
            </a:extLst>
          </p:cNvPr>
          <p:cNvSpPr/>
          <p:nvPr/>
        </p:nvSpPr>
        <p:spPr>
          <a:xfrm>
            <a:off x="609600" y="6197600"/>
            <a:ext cx="8255000" cy="431800"/>
          </a:xfrm>
          <a:prstGeom prst="roundRect">
            <a:avLst/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A760A3-8389-43F2-892F-B88A82E8F475}"/>
              </a:ext>
            </a:extLst>
          </p:cNvPr>
          <p:cNvSpPr txBox="1"/>
          <p:nvPr/>
        </p:nvSpPr>
        <p:spPr>
          <a:xfrm>
            <a:off x="787400" y="63119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  <a:latin typeface="Aptos"/>
              </a:rPr>
              <a:t>Key message: AI accelerated learning and delivery, but the logic was still guided by business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37897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36A4A1-6AF0-4A0A-B0DC-56551280C717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70BD3-3AB4-46A9-B601-A81EABC066BA}"/>
              </a:ext>
            </a:extLst>
          </p:cNvPr>
          <p:cNvSpPr txBox="1"/>
          <p:nvPr/>
        </p:nvSpPr>
        <p:spPr>
          <a:xfrm>
            <a:off x="482600" y="381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AI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9C54E-D9B5-482B-BEEF-9E1E98B4613E}"/>
              </a:ext>
            </a:extLst>
          </p:cNvPr>
          <p:cNvSpPr txBox="1"/>
          <p:nvPr/>
        </p:nvSpPr>
        <p:spPr>
          <a:xfrm>
            <a:off x="482600" y="787400"/>
            <a:ext cx="8763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11827"/>
                </a:solidFill>
                <a:latin typeface="Aptos"/>
              </a:rPr>
              <a:t>AI supported coding, debugging, and performance improvement across the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59113-ACBA-468A-AA25-C030D097D26E}"/>
              </a:ext>
            </a:extLst>
          </p:cNvPr>
          <p:cNvSpPr txBox="1"/>
          <p:nvPr/>
        </p:nvSpPr>
        <p:spPr>
          <a:xfrm>
            <a:off x="508000" y="1549400"/>
            <a:ext cx="876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ptos"/>
              </a:rPr>
              <a:t>Instead of using AI as a one-click generator, it was used as a development partner during build-test-fix cycles.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FAB2E1-C571-4DE0-9DF2-6452103C0112}"/>
              </a:ext>
            </a:extLst>
          </p:cNvPr>
          <p:cNvSpPr/>
          <p:nvPr/>
        </p:nvSpPr>
        <p:spPr>
          <a:xfrm>
            <a:off x="6096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3A10B-E17E-4761-8B9F-840610FFD003}"/>
              </a:ext>
            </a:extLst>
          </p:cNvPr>
          <p:cNvSpPr/>
          <p:nvPr/>
        </p:nvSpPr>
        <p:spPr>
          <a:xfrm>
            <a:off x="609600" y="24130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CD94C-7630-4545-B86B-2BE52A56F6FF}"/>
              </a:ext>
            </a:extLst>
          </p:cNvPr>
          <p:cNvSpPr txBox="1"/>
          <p:nvPr/>
        </p:nvSpPr>
        <p:spPr>
          <a:xfrm>
            <a:off x="8128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Code writing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27B1A-2282-4403-93CD-80819F31328F}"/>
              </a:ext>
            </a:extLst>
          </p:cNvPr>
          <p:cNvSpPr txBox="1"/>
          <p:nvPr/>
        </p:nvSpPr>
        <p:spPr>
          <a:xfrm>
            <a:off x="8128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Generated implementation drafts for Streamlit UI, grid behavior, chatbot logic, report sections, and export workflows.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582166-23D6-425F-93A6-0CADC38DD21E}"/>
              </a:ext>
            </a:extLst>
          </p:cNvPr>
          <p:cNvSpPr/>
          <p:nvPr/>
        </p:nvSpPr>
        <p:spPr>
          <a:xfrm>
            <a:off x="34417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383818-F14F-4F1D-8C01-3CEBC0BA455D}"/>
              </a:ext>
            </a:extLst>
          </p:cNvPr>
          <p:cNvSpPr/>
          <p:nvPr/>
        </p:nvSpPr>
        <p:spPr>
          <a:xfrm>
            <a:off x="3441700" y="24130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57A8C-D288-4660-BD0C-668AD1EBBE71}"/>
              </a:ext>
            </a:extLst>
          </p:cNvPr>
          <p:cNvSpPr txBox="1"/>
          <p:nvPr/>
        </p:nvSpPr>
        <p:spPr>
          <a:xfrm>
            <a:off x="36449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Debugging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69E4EB-9343-4BA3-BB5B-73F644C471FF}"/>
              </a:ext>
            </a:extLst>
          </p:cNvPr>
          <p:cNvSpPr txBox="1"/>
          <p:nvPr/>
        </p:nvSpPr>
        <p:spPr>
          <a:xfrm>
            <a:off x="36449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Helped trace errors such as KeyError, undefined variables, stale session values, and dropdown state not persisting.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A90EA6-5685-42CA-9245-BDE3DA0CEECF}"/>
              </a:ext>
            </a:extLst>
          </p:cNvPr>
          <p:cNvSpPr/>
          <p:nvPr/>
        </p:nvSpPr>
        <p:spPr>
          <a:xfrm>
            <a:off x="62738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3F9377-6788-481B-88F1-1C294FF5ACA6}"/>
              </a:ext>
            </a:extLst>
          </p:cNvPr>
          <p:cNvSpPr/>
          <p:nvPr/>
        </p:nvSpPr>
        <p:spPr>
          <a:xfrm>
            <a:off x="6273800" y="24130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695B7-72F7-41F5-ADEA-A384A4BE051F}"/>
              </a:ext>
            </a:extLst>
          </p:cNvPr>
          <p:cNvSpPr txBox="1"/>
          <p:nvPr/>
        </p:nvSpPr>
        <p:spPr>
          <a:xfrm>
            <a:off x="64770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Business logic mapping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F9587-02D6-4F01-BF9C-A12788613999}"/>
              </a:ext>
            </a:extLst>
          </p:cNvPr>
          <p:cNvSpPr txBox="1"/>
          <p:nvPr/>
        </p:nvSpPr>
        <p:spPr>
          <a:xfrm>
            <a:off x="6477000" y="29464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Translated user actions such as Delete Some, Delete All, New Some, and NewNew into consistent table and report calculations.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E7043D-B528-43E4-8EBC-399594370EAE}"/>
              </a:ext>
            </a:extLst>
          </p:cNvPr>
          <p:cNvSpPr/>
          <p:nvPr/>
        </p:nvSpPr>
        <p:spPr>
          <a:xfrm>
            <a:off x="6096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42CB0-DCA0-4EB3-877D-DF17D791827F}"/>
              </a:ext>
            </a:extLst>
          </p:cNvPr>
          <p:cNvSpPr/>
          <p:nvPr/>
        </p:nvSpPr>
        <p:spPr>
          <a:xfrm>
            <a:off x="609600" y="38862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DEA627-5922-4B82-8B90-48AD7BA1E87D}"/>
              </a:ext>
            </a:extLst>
          </p:cNvPr>
          <p:cNvSpPr txBox="1"/>
          <p:nvPr/>
        </p:nvSpPr>
        <p:spPr>
          <a:xfrm>
            <a:off x="8128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Performance thinking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D37803-7983-4218-AD75-5510D6F167D8}"/>
              </a:ext>
            </a:extLst>
          </p:cNvPr>
          <p:cNvSpPr txBox="1"/>
          <p:nvPr/>
        </p:nvSpPr>
        <p:spPr>
          <a:xfrm>
            <a:off x="8128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Suggested caching, lighter recalculation, reduced reruns, and precomputed summaries to improve responsiveness.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937CBD-348B-4CC7-8C42-1CE7CA774553}"/>
              </a:ext>
            </a:extLst>
          </p:cNvPr>
          <p:cNvSpPr/>
          <p:nvPr/>
        </p:nvSpPr>
        <p:spPr>
          <a:xfrm>
            <a:off x="34417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D48B5C-5D33-409D-8637-E2D6C00C7EE0}"/>
              </a:ext>
            </a:extLst>
          </p:cNvPr>
          <p:cNvSpPr/>
          <p:nvPr/>
        </p:nvSpPr>
        <p:spPr>
          <a:xfrm>
            <a:off x="3441700" y="38862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54D6E-ABFC-4AA3-9F33-E6CF706349CA}"/>
              </a:ext>
            </a:extLst>
          </p:cNvPr>
          <p:cNvSpPr txBox="1"/>
          <p:nvPr/>
        </p:nvSpPr>
        <p:spPr>
          <a:xfrm>
            <a:off x="36449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UX iteration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6F3591-2C43-4F33-8935-D3FF9E778C4E}"/>
              </a:ext>
            </a:extLst>
          </p:cNvPr>
          <p:cNvSpPr txBox="1"/>
          <p:nvPr/>
        </p:nvSpPr>
        <p:spPr>
          <a:xfrm>
            <a:off x="36449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Helped refine chatbot, login, report preview, export buttons, pinned tables, and full-screen views based on feedback.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AFB4F54-6E27-45EC-9FDC-0021056D280C}"/>
              </a:ext>
            </a:extLst>
          </p:cNvPr>
          <p:cNvSpPr/>
          <p:nvPr/>
        </p:nvSpPr>
        <p:spPr>
          <a:xfrm>
            <a:off x="62738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5F6424-52BF-4DCF-9C4D-7A0C2834726D}"/>
              </a:ext>
            </a:extLst>
          </p:cNvPr>
          <p:cNvSpPr/>
          <p:nvPr/>
        </p:nvSpPr>
        <p:spPr>
          <a:xfrm>
            <a:off x="6273800" y="38862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D5F779-6A3F-47F4-8BA8-2E5B11BFA60D}"/>
              </a:ext>
            </a:extLst>
          </p:cNvPr>
          <p:cNvSpPr txBox="1"/>
          <p:nvPr/>
        </p:nvSpPr>
        <p:spPr>
          <a:xfrm>
            <a:off x="64770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Learning loop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E8FFEF-FE07-4587-8F12-24296D2437A7}"/>
              </a:ext>
            </a:extLst>
          </p:cNvPr>
          <p:cNvSpPr txBox="1"/>
          <p:nvPr/>
        </p:nvSpPr>
        <p:spPr>
          <a:xfrm>
            <a:off x="64770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Each AI suggestion became a chance to understand why the code behaved that way, not just copy the answer.</a:t>
            </a:r>
          </a:p>
        </p:txBody>
      </p:sp>
    </p:spTree>
    <p:extLst>
      <p:ext uri="{BB962C8B-B14F-4D97-AF65-F5344CB8AC3E}">
        <p14:creationId xmlns:p14="http://schemas.microsoft.com/office/powerpoint/2010/main" val="64644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AF3776-5599-4DA0-A50C-B2BD8F52AD03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2E1DC-6B85-47F3-9CBB-D3A02EEAAE23}"/>
              </a:ext>
            </a:extLst>
          </p:cNvPr>
          <p:cNvSpPr txBox="1"/>
          <p:nvPr/>
        </p:nvSpPr>
        <p:spPr>
          <a:xfrm>
            <a:off x="482600" y="381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LEARNING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8D21C-E7BC-4198-8BDF-9B643B2EE886}"/>
              </a:ext>
            </a:extLst>
          </p:cNvPr>
          <p:cNvSpPr txBox="1"/>
          <p:nvPr/>
        </p:nvSpPr>
        <p:spPr>
          <a:xfrm>
            <a:off x="482600" y="787400"/>
            <a:ext cx="8763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11827"/>
                </a:solidFill>
                <a:latin typeface="Aptos"/>
              </a:rPr>
              <a:t>The biggest learning was connecting code behavior with business meaning.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CB760-6377-4760-8DBD-8E476583102A}"/>
              </a:ext>
            </a:extLst>
          </p:cNvPr>
          <p:cNvSpPr txBox="1"/>
          <p:nvPr/>
        </p:nvSpPr>
        <p:spPr>
          <a:xfrm>
            <a:off x="508000" y="1549400"/>
            <a:ext cx="876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ptos"/>
              </a:rPr>
              <a:t>The project required both technical debugging and an understanding of how range decisions affect item movement, planograms, and management reporting.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C69383-1A8D-49FB-AEE2-B4719CDD7481}"/>
              </a:ext>
            </a:extLst>
          </p:cNvPr>
          <p:cNvSpPr/>
          <p:nvPr/>
        </p:nvSpPr>
        <p:spPr>
          <a:xfrm>
            <a:off x="6096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DA8E0-C0FE-4487-9A91-CCB8275F2CD5}"/>
              </a:ext>
            </a:extLst>
          </p:cNvPr>
          <p:cNvSpPr/>
          <p:nvPr/>
        </p:nvSpPr>
        <p:spPr>
          <a:xfrm>
            <a:off x="609600" y="24130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39922-306F-4818-8509-2B9FA2CDE25C}"/>
              </a:ext>
            </a:extLst>
          </p:cNvPr>
          <p:cNvSpPr txBox="1"/>
          <p:nvPr/>
        </p:nvSpPr>
        <p:spPr>
          <a:xfrm>
            <a:off x="8128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System thinking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A9228-8CE5-4F2C-94E0-9B911A3B98BD}"/>
              </a:ext>
            </a:extLst>
          </p:cNvPr>
          <p:cNvSpPr txBox="1"/>
          <p:nvPr/>
        </p:nvSpPr>
        <p:spPr>
          <a:xfrm>
            <a:off x="8128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to trace data from source files through filters, grids, status logic, cluster tables, and reports.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DFDE07-7548-4645-90F2-B565FED82B79}"/>
              </a:ext>
            </a:extLst>
          </p:cNvPr>
          <p:cNvSpPr/>
          <p:nvPr/>
        </p:nvSpPr>
        <p:spPr>
          <a:xfrm>
            <a:off x="34417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6BEA75-3BCF-4AEA-A640-FCF59AF0B53A}"/>
              </a:ext>
            </a:extLst>
          </p:cNvPr>
          <p:cNvSpPr/>
          <p:nvPr/>
        </p:nvSpPr>
        <p:spPr>
          <a:xfrm>
            <a:off x="3441700" y="24130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74989A-7E4F-4ED4-A3E3-5A557BFB3B0E}"/>
              </a:ext>
            </a:extLst>
          </p:cNvPr>
          <p:cNvSpPr txBox="1"/>
          <p:nvPr/>
        </p:nvSpPr>
        <p:spPr>
          <a:xfrm>
            <a:off x="36449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Data quality awareness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9E645-D91F-4176-ABE9-73B024C25A77}"/>
              </a:ext>
            </a:extLst>
          </p:cNvPr>
          <p:cNvSpPr txBox="1"/>
          <p:nvPr/>
        </p:nvSpPr>
        <p:spPr>
          <a:xfrm>
            <a:off x="36449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why missing values, different column names, and inconsistent formats can break downstream logic.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927A08-ABBB-4082-9986-EF9D5436CE89}"/>
              </a:ext>
            </a:extLst>
          </p:cNvPr>
          <p:cNvSpPr/>
          <p:nvPr/>
        </p:nvSpPr>
        <p:spPr>
          <a:xfrm>
            <a:off x="62738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08186-E67D-47A8-80C2-5C6A1F341C8C}"/>
              </a:ext>
            </a:extLst>
          </p:cNvPr>
          <p:cNvSpPr/>
          <p:nvPr/>
        </p:nvSpPr>
        <p:spPr>
          <a:xfrm>
            <a:off x="6273800" y="24130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9692DA-F237-4195-AD5D-17760D1CF5B2}"/>
              </a:ext>
            </a:extLst>
          </p:cNvPr>
          <p:cNvSpPr txBox="1"/>
          <p:nvPr/>
        </p:nvSpPr>
        <p:spPr>
          <a:xfrm>
            <a:off x="64770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State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467F02-98A5-4959-9692-C29F61DF33DD}"/>
              </a:ext>
            </a:extLst>
          </p:cNvPr>
          <p:cNvSpPr txBox="1"/>
          <p:nvPr/>
        </p:nvSpPr>
        <p:spPr>
          <a:xfrm>
            <a:off x="64770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how autosave, refresh, role access, and edited dropdown states must remain consistent across pages and DGs.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BC73F2-8A50-4160-BF4C-4806FB3E1EC8}"/>
              </a:ext>
            </a:extLst>
          </p:cNvPr>
          <p:cNvSpPr/>
          <p:nvPr/>
        </p:nvSpPr>
        <p:spPr>
          <a:xfrm>
            <a:off x="6096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8C5FEB-FD56-4F9E-91D3-3004BDE2AC03}"/>
              </a:ext>
            </a:extLst>
          </p:cNvPr>
          <p:cNvSpPr/>
          <p:nvPr/>
        </p:nvSpPr>
        <p:spPr>
          <a:xfrm>
            <a:off x="609600" y="38862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71E27-E44D-43FA-A372-3713044470DB}"/>
              </a:ext>
            </a:extLst>
          </p:cNvPr>
          <p:cNvSpPr txBox="1"/>
          <p:nvPr/>
        </p:nvSpPr>
        <p:spPr>
          <a:xfrm>
            <a:off x="8128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Risk logic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A1ACAC-3128-4A9F-BDE9-B18AD5B96085}"/>
              </a:ext>
            </a:extLst>
          </p:cNvPr>
          <p:cNvSpPr txBox="1"/>
          <p:nvPr/>
        </p:nvSpPr>
        <p:spPr>
          <a:xfrm>
            <a:off x="8128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how business rules like Top 10% best seller and Tail 10% lowest seller can guide warnings and review points.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9B31FE-BE70-45DC-95C2-FBC6ADC91781}"/>
              </a:ext>
            </a:extLst>
          </p:cNvPr>
          <p:cNvSpPr/>
          <p:nvPr/>
        </p:nvSpPr>
        <p:spPr>
          <a:xfrm>
            <a:off x="34417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5972D5-74B5-40F8-A5CB-55B850021BCE}"/>
              </a:ext>
            </a:extLst>
          </p:cNvPr>
          <p:cNvSpPr/>
          <p:nvPr/>
        </p:nvSpPr>
        <p:spPr>
          <a:xfrm>
            <a:off x="3441700" y="38862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C469F2-828C-4CEB-B88A-313A545FC2AB}"/>
              </a:ext>
            </a:extLst>
          </p:cNvPr>
          <p:cNvSpPr txBox="1"/>
          <p:nvPr/>
        </p:nvSpPr>
        <p:spPr>
          <a:xfrm>
            <a:off x="36449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Communication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EF479D-326A-4FCD-BEAF-6B5E716C1DAF}"/>
              </a:ext>
            </a:extLst>
          </p:cNvPr>
          <p:cNvSpPr txBox="1"/>
          <p:nvPr/>
        </p:nvSpPr>
        <p:spPr>
          <a:xfrm>
            <a:off x="36449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to convert detailed app activity into manager-friendly reports and audit summaries.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853D55-850F-48C8-90D7-59E4F8A79EB7}"/>
              </a:ext>
            </a:extLst>
          </p:cNvPr>
          <p:cNvSpPr/>
          <p:nvPr/>
        </p:nvSpPr>
        <p:spPr>
          <a:xfrm>
            <a:off x="62738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427290-12B0-4AAC-A877-F80227B09C45}"/>
              </a:ext>
            </a:extLst>
          </p:cNvPr>
          <p:cNvSpPr/>
          <p:nvPr/>
        </p:nvSpPr>
        <p:spPr>
          <a:xfrm>
            <a:off x="6273800" y="38862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2D899-CC04-4A2B-BA1E-CD47D36FE1B6}"/>
              </a:ext>
            </a:extLst>
          </p:cNvPr>
          <p:cNvSpPr txBox="1"/>
          <p:nvPr/>
        </p:nvSpPr>
        <p:spPr>
          <a:xfrm>
            <a:off x="64770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Practical coding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6E12C1-D352-4298-90DB-BD3CA4F9E854}"/>
              </a:ext>
            </a:extLst>
          </p:cNvPr>
          <p:cNvSpPr txBox="1"/>
          <p:nvPr/>
        </p:nvSpPr>
        <p:spPr>
          <a:xfrm>
            <a:off x="64770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by debugging real problems that were not fully predictable at the design stage.</a:t>
            </a:r>
          </a:p>
        </p:txBody>
      </p:sp>
    </p:spTree>
    <p:extLst>
      <p:ext uri="{BB962C8B-B14F-4D97-AF65-F5344CB8AC3E}">
        <p14:creationId xmlns:p14="http://schemas.microsoft.com/office/powerpoint/2010/main" val="265179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C5256-3E04-4E42-AC01-D47FB4425C2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9F4D3-F720-42B4-8E35-296B5E9250B8}"/>
              </a:ext>
            </a:extLst>
          </p:cNvPr>
          <p:cNvSpPr txBox="1"/>
          <p:nvPr/>
        </p:nvSpPr>
        <p:spPr>
          <a:xfrm>
            <a:off x="482600" y="381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VALUE CREATED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46B0E-F234-41F3-B66F-34FDF3F74B7F}"/>
              </a:ext>
            </a:extLst>
          </p:cNvPr>
          <p:cNvSpPr txBox="1"/>
          <p:nvPr/>
        </p:nvSpPr>
        <p:spPr>
          <a:xfrm>
            <a:off x="482600" y="787400"/>
            <a:ext cx="8763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11827"/>
                </a:solidFill>
                <a:latin typeface="Aptos"/>
              </a:rPr>
              <a:t>The final app turns range editing into a connected review workflow, not just a spreadsheet screen.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75C0A-14F7-4385-B372-B0B20676239A}"/>
              </a:ext>
            </a:extLst>
          </p:cNvPr>
          <p:cNvSpPr txBox="1"/>
          <p:nvPr/>
        </p:nvSpPr>
        <p:spPr>
          <a:xfrm>
            <a:off x="508000" y="1549400"/>
            <a:ext cx="876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B5563"/>
                </a:solidFill>
                <a:latin typeface="Aptos"/>
              </a:rPr>
              <a:t>Users can edit range decisions, see impact, ask the chatbot, export outputs, and send management reports while keeping auditability.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AD8DF4-F0B0-4732-B435-C12C14DA4164}"/>
              </a:ext>
            </a:extLst>
          </p:cNvPr>
          <p:cNvSpPr/>
          <p:nvPr/>
        </p:nvSpPr>
        <p:spPr>
          <a:xfrm>
            <a:off x="6096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7059C-B865-484D-9CBA-B2E4EEAB06E3}"/>
              </a:ext>
            </a:extLst>
          </p:cNvPr>
          <p:cNvSpPr/>
          <p:nvPr/>
        </p:nvSpPr>
        <p:spPr>
          <a:xfrm>
            <a:off x="609600" y="24130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58228-2034-404F-AC13-511747DDADD7}"/>
              </a:ext>
            </a:extLst>
          </p:cNvPr>
          <p:cNvSpPr txBox="1"/>
          <p:nvPr/>
        </p:nvSpPr>
        <p:spPr>
          <a:xfrm>
            <a:off x="8128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Connected 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26EEC-F094-45BF-A728-E45D6A4E9024}"/>
              </a:ext>
            </a:extLst>
          </p:cNvPr>
          <p:cNvSpPr txBox="1"/>
          <p:nvPr/>
        </p:nvSpPr>
        <p:spPr>
          <a:xfrm>
            <a:off x="8128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Main table changes update status, cluster counts, range architecture, and report outputs.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188EBC-72F0-412B-A176-E22B5C1E59F3}"/>
              </a:ext>
            </a:extLst>
          </p:cNvPr>
          <p:cNvSpPr/>
          <p:nvPr/>
        </p:nvSpPr>
        <p:spPr>
          <a:xfrm>
            <a:off x="34417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4B9D0D-76FA-4869-BE43-556C1EE3A967}"/>
              </a:ext>
            </a:extLst>
          </p:cNvPr>
          <p:cNvSpPr/>
          <p:nvPr/>
        </p:nvSpPr>
        <p:spPr>
          <a:xfrm>
            <a:off x="3441700" y="24130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95169-5CAB-4074-835D-DDFA15042444}"/>
              </a:ext>
            </a:extLst>
          </p:cNvPr>
          <p:cNvSpPr txBox="1"/>
          <p:nvPr/>
        </p:nvSpPr>
        <p:spPr>
          <a:xfrm>
            <a:off x="36449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Decision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01438-E5EF-4650-9E59-0CBB800B761B}"/>
              </a:ext>
            </a:extLst>
          </p:cNvPr>
          <p:cNvSpPr txBox="1"/>
          <p:nvPr/>
        </p:nvSpPr>
        <p:spPr>
          <a:xfrm>
            <a:off x="36449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Warnings highlight risky actions such as deleting best sellers or adding lowest sellers.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12A14E-4B80-40CB-8D34-3B435F90B2BA}"/>
              </a:ext>
            </a:extLst>
          </p:cNvPr>
          <p:cNvSpPr/>
          <p:nvPr/>
        </p:nvSpPr>
        <p:spPr>
          <a:xfrm>
            <a:off x="6273800" y="24130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635687-3DCB-4D8D-AE25-341BD9A5C0A1}"/>
              </a:ext>
            </a:extLst>
          </p:cNvPr>
          <p:cNvSpPr/>
          <p:nvPr/>
        </p:nvSpPr>
        <p:spPr>
          <a:xfrm>
            <a:off x="6273800" y="24130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6C218-A218-4BCE-BD52-CE687C42D46E}"/>
              </a:ext>
            </a:extLst>
          </p:cNvPr>
          <p:cNvSpPr txBox="1"/>
          <p:nvPr/>
        </p:nvSpPr>
        <p:spPr>
          <a:xfrm>
            <a:off x="6477000" y="25908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Faster 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14E56C-E775-4A5A-9CC8-E909C46BAE91}"/>
              </a:ext>
            </a:extLst>
          </p:cNvPr>
          <p:cNvSpPr txBox="1"/>
          <p:nvPr/>
        </p:nvSpPr>
        <p:spPr>
          <a:xfrm>
            <a:off x="6477000" y="29464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Chatbot answers common range questions and supports quick action commands.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A73973-AE56-4239-A604-D93F9960AAF1}"/>
              </a:ext>
            </a:extLst>
          </p:cNvPr>
          <p:cNvSpPr/>
          <p:nvPr/>
        </p:nvSpPr>
        <p:spPr>
          <a:xfrm>
            <a:off x="6096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487F23-3218-4CED-94ED-C42F00948FB9}"/>
              </a:ext>
            </a:extLst>
          </p:cNvPr>
          <p:cNvSpPr/>
          <p:nvPr/>
        </p:nvSpPr>
        <p:spPr>
          <a:xfrm>
            <a:off x="609600" y="38862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55FA9A-1DBC-486A-A6FB-5C179889D665}"/>
              </a:ext>
            </a:extLst>
          </p:cNvPr>
          <p:cNvSpPr txBox="1"/>
          <p:nvPr/>
        </p:nvSpPr>
        <p:spPr>
          <a:xfrm>
            <a:off x="8128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Manager 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C23F77-D5B9-45B1-943F-064E68E41350}"/>
              </a:ext>
            </a:extLst>
          </p:cNvPr>
          <p:cNvSpPr txBox="1"/>
          <p:nvPr/>
        </p:nvSpPr>
        <p:spPr>
          <a:xfrm>
            <a:off x="812800" y="44196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Reports summarize DG changes, SKU impact, planogram impact, product movement, and sales risk.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F69D0C-A364-4D78-964B-AD43360D2445}"/>
              </a:ext>
            </a:extLst>
          </p:cNvPr>
          <p:cNvSpPr/>
          <p:nvPr/>
        </p:nvSpPr>
        <p:spPr>
          <a:xfrm>
            <a:off x="34417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1243C2-0EF0-40E1-B2CC-9CB9BD736385}"/>
              </a:ext>
            </a:extLst>
          </p:cNvPr>
          <p:cNvSpPr/>
          <p:nvPr/>
        </p:nvSpPr>
        <p:spPr>
          <a:xfrm>
            <a:off x="3441700" y="38862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D0C371-E0E6-40F3-9F36-569FA5C287FE}"/>
              </a:ext>
            </a:extLst>
          </p:cNvPr>
          <p:cNvSpPr txBox="1"/>
          <p:nvPr/>
        </p:nvSpPr>
        <p:spPr>
          <a:xfrm>
            <a:off x="36449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Governance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65490-7DD5-4A46-8376-B8641F769A04}"/>
              </a:ext>
            </a:extLst>
          </p:cNvPr>
          <p:cNvSpPr txBox="1"/>
          <p:nvPr/>
        </p:nvSpPr>
        <p:spPr>
          <a:xfrm>
            <a:off x="3644900" y="44196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Login roles and audit logs support controlled access and traceability.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7BE4ED-A19A-4F71-A3C5-051EFE3A0F93}"/>
              </a:ext>
            </a:extLst>
          </p:cNvPr>
          <p:cNvSpPr/>
          <p:nvPr/>
        </p:nvSpPr>
        <p:spPr>
          <a:xfrm>
            <a:off x="6273800" y="38862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D8EA46-6D98-47F7-8F18-327A55015106}"/>
              </a:ext>
            </a:extLst>
          </p:cNvPr>
          <p:cNvSpPr/>
          <p:nvPr/>
        </p:nvSpPr>
        <p:spPr>
          <a:xfrm>
            <a:off x="6273800" y="38862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CAC561-015E-4E8B-9178-1982E523BC45}"/>
              </a:ext>
            </a:extLst>
          </p:cNvPr>
          <p:cNvSpPr txBox="1"/>
          <p:nvPr/>
        </p:nvSpPr>
        <p:spPr>
          <a:xfrm>
            <a:off x="6477000" y="40640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Export readiness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0EA47B-C133-486E-9BB8-46D91DAEA021}"/>
              </a:ext>
            </a:extLst>
          </p:cNvPr>
          <p:cNvSpPr txBox="1"/>
          <p:nvPr/>
        </p:nvSpPr>
        <p:spPr>
          <a:xfrm>
            <a:off x="6477000" y="44196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Range output and report files can be generated for business handoff.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F1354B2-442C-444F-BF16-85B2A406F248}"/>
              </a:ext>
            </a:extLst>
          </p:cNvPr>
          <p:cNvSpPr/>
          <p:nvPr/>
        </p:nvSpPr>
        <p:spPr>
          <a:xfrm>
            <a:off x="609600" y="6197600"/>
            <a:ext cx="8255000" cy="431800"/>
          </a:xfrm>
          <a:prstGeom prst="roundRect">
            <a:avLst/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3D4BF8-A89C-4104-8899-76DB494AFDD0}"/>
              </a:ext>
            </a:extLst>
          </p:cNvPr>
          <p:cNvSpPr txBox="1"/>
          <p:nvPr/>
        </p:nvSpPr>
        <p:spPr>
          <a:xfrm>
            <a:off x="787400" y="63119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  <a:latin typeface="Aptos"/>
              </a:rPr>
              <a:t>Outcome: AI helped bridge the gap between limited time, unfamiliar technical areas, and real business complexity.</a:t>
            </a:r>
          </a:p>
        </p:txBody>
      </p:sp>
    </p:spTree>
    <p:extLst>
      <p:ext uri="{BB962C8B-B14F-4D97-AF65-F5344CB8AC3E}">
        <p14:creationId xmlns:p14="http://schemas.microsoft.com/office/powerpoint/2010/main" val="1976542039"/>
      </p:ext>
    </p:extLst>
  </p:cSld>
  <p:clrMapOvr>
    <a:masterClrMapping/>
  </p:clrMapOvr>
</p:sld>
</file>

<file path=ppt/theme/theme1.xml><?xml version="1.0" encoding="utf-8"?>
<a:theme xmlns:a="http://schemas.openxmlformats.org/drawingml/2006/main" name="CP AXTR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P AXTRA_Presentation Format_2024_.pptx" id="{D226EB36-CA2E-4EE9-BA44-7AE101D9F3FC}" vid="{CA8BAD08-CE8B-46DA-ADC2-33B81BC933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1032</TotalTime>
  <Words>1402</Words>
  <Application>Microsoft Office PowerPoint</Application>
  <PresentationFormat>Widescreen</PresentationFormat>
  <Paragraphs>183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DB Adman X Bold</vt:lpstr>
      <vt:lpstr>Lotuss Smart HL</vt:lpstr>
      <vt:lpstr>Prompt</vt:lpstr>
      <vt:lpstr>Prompt Medium</vt:lpstr>
      <vt:lpstr>CP AXTRA Theme</vt:lpstr>
      <vt:lpstr>Range Sheet Streamlit Architecture</vt:lpstr>
      <vt:lpstr>Induction : Space Range Display System Flow</vt:lpstr>
      <vt:lpstr>Range Sheet: High level design</vt:lpstr>
      <vt:lpstr>Range 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Range sheet Intelligence :Internship Program Plan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 Sheet Streamlit Architechture SKU Optimization</dc:title>
  <dc:creator>Piyaporn Prayoonsri</dc:creator>
  <cp:lastModifiedBy>Chanitsiree Dattuyawat</cp:lastModifiedBy>
  <cp:revision>10</cp:revision>
  <dcterms:created xsi:type="dcterms:W3CDTF">2026-05-20T04:46:22Z</dcterms:created>
  <dcterms:modified xsi:type="dcterms:W3CDTF">2026-07-20T04:09:11Z</dcterms:modified>
</cp:coreProperties>
</file>
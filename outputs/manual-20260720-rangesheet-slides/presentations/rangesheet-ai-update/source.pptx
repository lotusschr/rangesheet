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147478708" r:id="rId5"/>
    <p:sldId id="271" r:id="rId6"/>
    <p:sldId id="265" r:id="rId7"/>
    <p:sldId id="266" r:id="rId8"/>
    <p:sldId id="262" r:id="rId9"/>
    <p:sldId id="263" r:id="rId10"/>
    <p:sldId id="2147478722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94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yaporn Prayoonsri" userId="ae7e3ea0-8cb2-402d-ae33-e6492115d572" providerId="ADAL" clId="{BB870E3F-1F22-4AC0-8D25-642D04DD253C}"/>
    <pc:docChg chg="delSld">
      <pc:chgData name="Piyaporn Prayoonsri" userId="ae7e3ea0-8cb2-402d-ae33-e6492115d572" providerId="ADAL" clId="{BB870E3F-1F22-4AC0-8D25-642D04DD253C}" dt="2026-06-02T07:51:07.506" v="3" actId="47"/>
      <pc:docMkLst>
        <pc:docMk/>
      </pc:docMkLst>
      <pc:sldChg chg="del">
        <pc:chgData name="Piyaporn Prayoonsri" userId="ae7e3ea0-8cb2-402d-ae33-e6492115d572" providerId="ADAL" clId="{BB870E3F-1F22-4AC0-8D25-642D04DD253C}" dt="2026-06-02T07:51:07.506" v="3" actId="47"/>
        <pc:sldMkLst>
          <pc:docMk/>
          <pc:sldMk cId="2727093960" sldId="260"/>
        </pc:sldMkLst>
      </pc:sldChg>
      <pc:sldChg chg="del">
        <pc:chgData name="Piyaporn Prayoonsri" userId="ae7e3ea0-8cb2-402d-ae33-e6492115d572" providerId="ADAL" clId="{BB870E3F-1F22-4AC0-8D25-642D04DD253C}" dt="2026-06-02T07:51:06.018" v="2" actId="47"/>
        <pc:sldMkLst>
          <pc:docMk/>
          <pc:sldMk cId="4223390966" sldId="267"/>
        </pc:sldMkLst>
      </pc:sldChg>
      <pc:sldChg chg="del">
        <pc:chgData name="Piyaporn Prayoonsri" userId="ae7e3ea0-8cb2-402d-ae33-e6492115d572" providerId="ADAL" clId="{BB870E3F-1F22-4AC0-8D25-642D04DD253C}" dt="2026-06-02T07:51:02.387" v="0" actId="47"/>
        <pc:sldMkLst>
          <pc:docMk/>
          <pc:sldMk cId="2474507854" sldId="269"/>
        </pc:sldMkLst>
      </pc:sldChg>
      <pc:sldChg chg="del">
        <pc:chgData name="Piyaporn Prayoonsri" userId="ae7e3ea0-8cb2-402d-ae33-e6492115d572" providerId="ADAL" clId="{BB870E3F-1F22-4AC0-8D25-642D04DD253C}" dt="2026-06-02T07:51:03.228" v="1" actId="47"/>
        <pc:sldMkLst>
          <pc:docMk/>
          <pc:sldMk cId="3685486366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05B5DD0-D6F9-77AB-1F03-7B8CFA9461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/>
          <a:srcRect r="20934" b="8932"/>
          <a:stretch/>
        </p:blipFill>
        <p:spPr>
          <a:xfrm>
            <a:off x="0" y="0"/>
            <a:ext cx="9639759" cy="62454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99262E-3EFA-5104-44F0-2DDB8108EF1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spc="300">
                <a:latin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1BC84-4D20-F19E-8FF2-CED1D7C48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5774"/>
            <a:ext cx="9144000" cy="1000125"/>
          </a:xfrm>
        </p:spPr>
        <p:txBody>
          <a:bodyPr/>
          <a:lstStyle>
            <a:lvl1pPr marL="0" indent="0" algn="l">
              <a:buNone/>
              <a:defRPr sz="2400">
                <a:latin typeface="Prompt" panose="00000500000000000000" pitchFamily="2" charset="-34"/>
                <a:cs typeface="Prompt" panose="00000500000000000000" pitchFamily="2" charset="-3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30A2C-B233-2130-5D1B-F5FE26A7E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CD078-A69C-F039-BE77-C3BEDD337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B2D9E-CD61-CE4A-9ADF-06A8BA22F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EE8563-37FF-DDF8-F8E9-A7110050348A}"/>
              </a:ext>
            </a:extLst>
          </p:cNvPr>
          <p:cNvSpPr txBox="1"/>
          <p:nvPr/>
        </p:nvSpPr>
        <p:spPr>
          <a:xfrm>
            <a:off x="1524000" y="3581400"/>
            <a:ext cx="7286625" cy="461665"/>
          </a:xfrm>
          <a:prstGeom prst="rect">
            <a:avLst/>
          </a:prstGeom>
          <a:solidFill>
            <a:srgbClr val="0072CB"/>
          </a:solidFill>
          <a:ln>
            <a:solidFill>
              <a:srgbClr val="0072CB"/>
            </a:solidFill>
          </a:ln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chemeClr val="bg1"/>
              </a:solidFill>
              <a:latin typeface="DB Adman X Bold" panose="02000506090000020004" pitchFamily="2" charset="-34"/>
              <a:cs typeface="DB Adman X Bold" panose="0200050609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94269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F6A9D-57FA-145D-4088-C416898E3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0C786-F309-A602-C33C-27D405B87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1249"/>
            <a:ext cx="10515600" cy="4351338"/>
          </a:xfrm>
        </p:spPr>
        <p:txBody>
          <a:bodyPr/>
          <a:lstStyle>
            <a:lvl1pPr marL="447675" indent="-447675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750BD-87EE-E0EB-5AE0-621ABD6B5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6AF50-A694-9A61-8377-C33EF2CE7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E9006-9BD3-B5B6-8E22-EA71C89F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F5413BC9-0467-5D3F-CE2B-5AA3C2F762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8202"/>
          <a:stretch>
            <a:fillRect/>
          </a:stretch>
        </p:blipFill>
        <p:spPr>
          <a:xfrm>
            <a:off x="-10488" y="6728429"/>
            <a:ext cx="12202494" cy="129570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000000"/>
            </a:solidFill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3071589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1A87A-BA9D-6B41-17C2-7355BF217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E9D31-1B9C-BC89-CB3C-020130F59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E55F8-351D-E1A3-C4E6-5350034D1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B44B5-1086-5224-940C-511D7864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2C7E5-D948-0C96-C7BE-48D932F5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0CA4BC6A-AB69-C1F9-0FBC-7AB7742F94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8202"/>
          <a:stretch>
            <a:fillRect/>
          </a:stretch>
        </p:blipFill>
        <p:spPr>
          <a:xfrm>
            <a:off x="-10488" y="6728429"/>
            <a:ext cx="12202494" cy="129570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000000"/>
            </a:solidFill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262992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ABA08-E2EB-498C-4FFF-C9215DFF3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14E04-B864-9D1E-A53F-E1CDB1DFA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147C8-33E4-8E6B-93BF-160F24C02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9404B-CB43-AFAF-B1AC-6D35760F6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56FBD-D7C8-F4E3-4C47-F22935EFC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95E14-1DDC-2D01-CF6A-9D8A0ACB4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266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4AD9F-0F28-4FC6-BD24-83A59AA6F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D0249-6C0E-9222-0008-AEEA35FAF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4C52D-0D7F-FDCC-8267-282A37547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FF8663-3DA9-F16B-130A-45CEEF7195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94312-E242-6FD0-88F9-281F6B2FD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8552E6-7884-2E41-75BE-4F148F7C1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1E35D4-16B2-94CF-9D3B-7CE39DC5D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6C444-B90C-9160-908C-A8B7D57E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61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C246A-4F1A-FF10-F639-31FF0C5D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7290BB-F072-4E8E-CB8F-79A7E5CB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B0831-29EB-26BC-1939-16E054F2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EE0B1-1D10-67D6-C122-98583B32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50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751218-25E0-2BAE-BB38-2ABC0F758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1E3D0-F734-B82F-7219-EBDB67C0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A80A79-A00B-4CC1-D8DA-1510C9115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EBE45-B801-74E5-EF5E-2B3912ED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8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1E3D0-F734-B82F-7219-EBDB67C0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A80A79-A00B-4CC1-D8DA-1510C9115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EBE45-B801-74E5-EF5E-2B3912ED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48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9693A-FF42-876E-87FD-8C82CA14E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26BEA-E792-6FE4-6068-77C301526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0F8E3-F911-6006-9E02-2F8A6B17D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AEDD8-F3A2-B7F3-2755-ABB3A02D2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85F06-2C39-CD13-C363-87BF2160B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009D4-7009-D417-8C87-F40B594B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15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13A24-07A3-DBF5-4C0F-00FE84F76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CDF2C-3C49-FA81-62BF-1F1334A57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FE38E-E451-D4B5-D6D8-F9067F79E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C4788-442A-6DDC-C9C8-D18341C7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F9F18-3214-E450-D06B-F7EFD7AE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C8AAA-5219-F8DE-FF01-31614EE8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09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50831-455A-743B-DA03-E47860978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265"/>
            <a:ext cx="10515600" cy="8644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7C034-7032-64EE-749C-39E0BE9E4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CD147-E1E2-D23F-155C-155B4347B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873E0-941E-D771-6C71-0775F522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F6E9F-C708-036C-42F9-B03564F1E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0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15E005-32DA-D28B-1F62-EA2E80C53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139960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BFADF-9B18-D95A-4129-A587FAEE8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D8E84-D942-8EDB-ED0A-949671782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6654E-7AC0-92DB-FA82-F489419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F866A-BCE6-F8F0-97ED-7781CEBCB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89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29F367-CDF3-399F-E48A-09609572E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191B4-44AE-94A0-5515-9BF46BEA3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4B805-572A-47C3-4D5D-FE97D5100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5B0153-C829-2351-8EF8-F28640A911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56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FBA1D6-83A9-87C8-D9AE-30D31AF34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B70C4-CF68-F093-6B52-AAE69A364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332F3-0C4D-03B0-7C68-890C929B7B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7B0AD-15D3-15E5-E2F8-215BD6C4D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727F2-3740-39D2-7069-E39C4D2CC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330CCCA-AC00-CA5F-EA6F-34CFEC9DB871}"/>
              </a:ext>
            </a:extLst>
          </p:cNvPr>
          <p:cNvGrpSpPr/>
          <p:nvPr userDrawn="1"/>
        </p:nvGrpSpPr>
        <p:grpSpPr>
          <a:xfrm>
            <a:off x="10463378" y="99208"/>
            <a:ext cx="1500027" cy="6371629"/>
            <a:chOff x="10463378" y="123828"/>
            <a:chExt cx="1500027" cy="637162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9B2BEB7-24FC-3E6D-9724-48E40F561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40301" t="25126" r="10403" b="30769"/>
            <a:stretch>
              <a:fillRect/>
            </a:stretch>
          </p:blipFill>
          <p:spPr>
            <a:xfrm>
              <a:off x="10585944" y="6248012"/>
              <a:ext cx="1377461" cy="247445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B3A7A57-DEC3-07F1-57F2-B1704F158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6902" t="21346" r="62396" b="17048"/>
            <a:stretch>
              <a:fillRect/>
            </a:stretch>
          </p:blipFill>
          <p:spPr>
            <a:xfrm>
              <a:off x="10463378" y="123828"/>
              <a:ext cx="1500027" cy="603824"/>
            </a:xfrm>
            <a:prstGeom prst="rect">
              <a:avLst/>
            </a:prstGeom>
            <a:noFill/>
            <a:ln cap="flat">
              <a:noFill/>
            </a:ln>
          </p:spPr>
        </p:pic>
      </p:grpSp>
      <p:pic>
        <p:nvPicPr>
          <p:cNvPr id="7" name="Picture 14">
            <a:extLst>
              <a:ext uri="{FF2B5EF4-FFF2-40B4-BE49-F238E27FC236}">
                <a16:creationId xmlns:a16="http://schemas.microsoft.com/office/drawing/2014/main" id="{59DEF91B-AA9B-2E81-6523-D91D985A6540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 t="98202"/>
          <a:stretch>
            <a:fillRect/>
          </a:stretch>
        </p:blipFill>
        <p:spPr>
          <a:xfrm>
            <a:off x="-10488" y="6739446"/>
            <a:ext cx="12202494" cy="129570"/>
          </a:xfrm>
          <a:prstGeom prst="rect">
            <a:avLst/>
          </a:prstGeom>
          <a:solidFill>
            <a:srgbClr val="FFFFFF"/>
          </a:solidFill>
          <a:ln w="9528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705308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FBB215"/>
          </a:solidFill>
          <a:latin typeface="Prompt" panose="00000500000000000000" pitchFamily="2" charset="-34"/>
          <a:ea typeface="+mj-ea"/>
          <a:cs typeface="Prompt" panose="00000500000000000000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sz="2800" b="1" kern="1200">
          <a:solidFill>
            <a:srgbClr val="0072CB"/>
          </a:solidFill>
          <a:latin typeface="Prompt Medium" panose="00000600000000000000" pitchFamily="2" charset="-34"/>
          <a:ea typeface="+mn-ea"/>
          <a:cs typeface="Prompt Medium" panose="00000600000000000000" pitchFamily="2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0072CB"/>
          </a:solidFill>
          <a:latin typeface="Prompt" panose="00000500000000000000" pitchFamily="2" charset="-34"/>
          <a:ea typeface="+mn-ea"/>
          <a:cs typeface="Prompt" panose="00000500000000000000" pitchFamily="2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0072CB"/>
          </a:solidFill>
          <a:latin typeface="Prompt" panose="00000500000000000000" pitchFamily="2" charset="-34"/>
          <a:ea typeface="+mn-ea"/>
          <a:cs typeface="Prompt" panose="00000500000000000000" pitchFamily="2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1" kern="1200">
          <a:solidFill>
            <a:srgbClr val="0072CB"/>
          </a:solidFill>
          <a:latin typeface="Prompt" panose="00000500000000000000" pitchFamily="2" charset="-34"/>
          <a:ea typeface="+mn-ea"/>
          <a:cs typeface="Prompt" panose="00000500000000000000" pitchFamily="2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1" kern="1200">
          <a:solidFill>
            <a:srgbClr val="0072CB"/>
          </a:solidFill>
          <a:latin typeface="Prompt" panose="00000500000000000000" pitchFamily="2" charset="-34"/>
          <a:ea typeface="+mn-ea"/>
          <a:cs typeface="Prompt" panose="00000500000000000000" pitchFamily="2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F8C87-83F1-4A17-A4DE-3B93899C0A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Range Sheet</a:t>
            </a:r>
            <a:br>
              <a:rPr lang="en-US" sz="4800" dirty="0"/>
            </a:br>
            <a:r>
              <a:rPr lang="en-US" sz="4000" dirty="0" err="1"/>
              <a:t>Streamlit</a:t>
            </a:r>
            <a:r>
              <a:rPr lang="en-US" sz="4000" dirty="0"/>
              <a:t> Architecture</a:t>
            </a:r>
            <a:endParaRPr lang="en-TH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3F7760-BE26-E873-3841-EDDDC8491E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PiyapornP</a:t>
            </a:r>
            <a:endParaRPr lang="en-US" dirty="0"/>
          </a:p>
          <a:p>
            <a:r>
              <a:rPr lang="en-US" dirty="0"/>
              <a:t>20 May 2026</a:t>
            </a:r>
          </a:p>
        </p:txBody>
      </p:sp>
    </p:spTree>
    <p:extLst>
      <p:ext uri="{BB962C8B-B14F-4D97-AF65-F5344CB8AC3E}">
        <p14:creationId xmlns:p14="http://schemas.microsoft.com/office/powerpoint/2010/main" val="1104135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A9C5-F4A6-47E7-99C9-875168D62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73" y="133413"/>
            <a:ext cx="10515600" cy="596993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Induction : Space Range Display System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9F535-5C00-444D-AE4B-B8FCA0E62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461" y="754228"/>
            <a:ext cx="11485872" cy="56421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 </a:t>
            </a: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844ECB70-3393-4B60-A83A-171ED79370F8}"/>
              </a:ext>
            </a:extLst>
          </p:cNvPr>
          <p:cNvSpPr/>
          <p:nvPr/>
        </p:nvSpPr>
        <p:spPr>
          <a:xfrm>
            <a:off x="714303" y="2201955"/>
            <a:ext cx="1381328" cy="64008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Vendor – Product - Store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9296D-DDF9-4490-95D5-EFF21495DCA9}"/>
              </a:ext>
            </a:extLst>
          </p:cNvPr>
          <p:cNvSpPr txBox="1"/>
          <p:nvPr/>
        </p:nvSpPr>
        <p:spPr>
          <a:xfrm>
            <a:off x="724031" y="1606113"/>
            <a:ext cx="1371600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RMS</a:t>
            </a: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A4D84FA3-F311-4642-8FEC-68B2FF7575A7}"/>
              </a:ext>
            </a:extLst>
          </p:cNvPr>
          <p:cNvSpPr/>
          <p:nvPr/>
        </p:nvSpPr>
        <p:spPr>
          <a:xfrm>
            <a:off x="4301164" y="2737304"/>
            <a:ext cx="1371600" cy="640080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Average sales 52 week</a:t>
            </a:r>
          </a:p>
        </p:txBody>
      </p:sp>
      <p:sp>
        <p:nvSpPr>
          <p:cNvPr id="8" name="Flowchart: Magnetic Disk 7">
            <a:extLst>
              <a:ext uri="{FF2B5EF4-FFF2-40B4-BE49-F238E27FC236}">
                <a16:creationId xmlns:a16="http://schemas.microsoft.com/office/drawing/2014/main" id="{400C6FC1-11F2-46B1-8315-091EC9642605}"/>
              </a:ext>
            </a:extLst>
          </p:cNvPr>
          <p:cNvSpPr/>
          <p:nvPr/>
        </p:nvSpPr>
        <p:spPr>
          <a:xfrm>
            <a:off x="4301164" y="3993126"/>
            <a:ext cx="1371600" cy="640080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Floor planning</a:t>
            </a:r>
          </a:p>
        </p:txBody>
      </p:sp>
      <p:sp>
        <p:nvSpPr>
          <p:cNvPr id="9" name="Flowchart: Magnetic Disk 8">
            <a:extLst>
              <a:ext uri="{FF2B5EF4-FFF2-40B4-BE49-F238E27FC236}">
                <a16:creationId xmlns:a16="http://schemas.microsoft.com/office/drawing/2014/main" id="{8F593049-BC7E-4126-AEED-1CBE45E3CA46}"/>
              </a:ext>
            </a:extLst>
          </p:cNvPr>
          <p:cNvSpPr/>
          <p:nvPr/>
        </p:nvSpPr>
        <p:spPr>
          <a:xfrm>
            <a:off x="4301164" y="2199015"/>
            <a:ext cx="1371600" cy="640080"/>
          </a:xfrm>
          <a:prstGeom prst="flowChartMagneticDisk">
            <a:avLst/>
          </a:prstGeom>
          <a:solidFill>
            <a:schemeClr val="accent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Vendor – Product - Store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B84A6247-851A-4AEF-9371-72F9B00015D8}"/>
              </a:ext>
            </a:extLst>
          </p:cNvPr>
          <p:cNvSpPr/>
          <p:nvPr/>
        </p:nvSpPr>
        <p:spPr>
          <a:xfrm>
            <a:off x="7623212" y="2199015"/>
            <a:ext cx="1371600" cy="274320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Ordering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C96035F-A15F-4D47-8001-6335D36B33AD}"/>
              </a:ext>
            </a:extLst>
          </p:cNvPr>
          <p:cNvCxnSpPr>
            <a:cxnSpLocks/>
          </p:cNvCxnSpPr>
          <p:nvPr/>
        </p:nvCxnSpPr>
        <p:spPr>
          <a:xfrm>
            <a:off x="741669" y="2133990"/>
            <a:ext cx="11209871" cy="0"/>
          </a:xfrm>
          <a:prstGeom prst="line">
            <a:avLst/>
          </a:prstGeom>
          <a:ln w="28575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43D6CCA-DFCE-4FB3-8BF6-25A17BE38671}"/>
              </a:ext>
            </a:extLst>
          </p:cNvPr>
          <p:cNvCxnSpPr>
            <a:cxnSpLocks/>
            <a:stCxn id="4" idx="4"/>
            <a:endCxn id="9" idx="2"/>
          </p:cNvCxnSpPr>
          <p:nvPr/>
        </p:nvCxnSpPr>
        <p:spPr>
          <a:xfrm flipV="1">
            <a:off x="2095631" y="2519055"/>
            <a:ext cx="2205533" cy="29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Magnetic Disk 21">
            <a:extLst>
              <a:ext uri="{FF2B5EF4-FFF2-40B4-BE49-F238E27FC236}">
                <a16:creationId xmlns:a16="http://schemas.microsoft.com/office/drawing/2014/main" id="{CF2DCBD0-B253-45CE-868F-6C777B5BD5F5}"/>
              </a:ext>
            </a:extLst>
          </p:cNvPr>
          <p:cNvSpPr/>
          <p:nvPr/>
        </p:nvSpPr>
        <p:spPr>
          <a:xfrm>
            <a:off x="5998331" y="2199015"/>
            <a:ext cx="1371600" cy="640080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- Display Group Controls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- Create POG Framework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- Create Event</a:t>
            </a:r>
            <a:b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</a:br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- Master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1BA466A-D965-4A4C-9703-2D3CF3D58A9A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4986964" y="3993126"/>
            <a:ext cx="0" cy="122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3576122-9C05-4E2F-82E2-17388CFA7FFA}"/>
              </a:ext>
            </a:extLst>
          </p:cNvPr>
          <p:cNvSpPr txBox="1"/>
          <p:nvPr/>
        </p:nvSpPr>
        <p:spPr>
          <a:xfrm>
            <a:off x="7623212" y="1440288"/>
            <a:ext cx="1371600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BY –</a:t>
            </a:r>
            <a:r>
              <a:rPr lang="en-US" sz="1400" dirty="0" err="1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FnR</a:t>
            </a:r>
            <a:endParaRPr lang="en-US" sz="1400" dirty="0">
              <a:solidFill>
                <a:schemeClr val="bg1"/>
              </a:solidFill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E37DD6-B9A5-4B44-8321-FA6F8379785D}"/>
              </a:ext>
            </a:extLst>
          </p:cNvPr>
          <p:cNvSpPr txBox="1"/>
          <p:nvPr/>
        </p:nvSpPr>
        <p:spPr>
          <a:xfrm>
            <a:off x="9219364" y="1511939"/>
            <a:ext cx="1371600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Web Publisher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9E70188-8ED8-480F-846B-9CD65B8C88E2}"/>
              </a:ext>
            </a:extLst>
          </p:cNvPr>
          <p:cNvCxnSpPr>
            <a:cxnSpLocks/>
          </p:cNvCxnSpPr>
          <p:nvPr/>
        </p:nvCxnSpPr>
        <p:spPr>
          <a:xfrm>
            <a:off x="782771" y="1395508"/>
            <a:ext cx="11209870" cy="0"/>
          </a:xfrm>
          <a:prstGeom prst="line">
            <a:avLst/>
          </a:prstGeom>
          <a:ln w="28575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00A1CBE-DB5E-4CEA-A4AE-B6B0A8B65A17}"/>
              </a:ext>
            </a:extLst>
          </p:cNvPr>
          <p:cNvSpPr txBox="1"/>
          <p:nvPr/>
        </p:nvSpPr>
        <p:spPr>
          <a:xfrm>
            <a:off x="687832" y="741078"/>
            <a:ext cx="155448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Item Maintenance</a:t>
            </a: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5D624B-5976-47C5-988F-80B2318A7AB7}"/>
              </a:ext>
            </a:extLst>
          </p:cNvPr>
          <p:cNvSpPr txBox="1"/>
          <p:nvPr/>
        </p:nvSpPr>
        <p:spPr>
          <a:xfrm>
            <a:off x="4296531" y="750888"/>
            <a:ext cx="164443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Display Manager</a:t>
            </a:r>
            <a:b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</a:br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Floor Planner</a:t>
            </a:r>
            <a:br>
              <a:rPr lang="en-US" b="1" dirty="0">
                <a:latin typeface="Lotuss Smart HL" panose="02000000000000000000" pitchFamily="2" charset="-34"/>
                <a:cs typeface="Lotuss Smart HL" panose="02000000000000000000" pitchFamily="2" charset="-34"/>
              </a:rPr>
            </a:b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29E32C-4459-4FAC-A5F2-1234906B40D3}"/>
              </a:ext>
            </a:extLst>
          </p:cNvPr>
          <p:cNvSpPr txBox="1"/>
          <p:nvPr/>
        </p:nvSpPr>
        <p:spPr>
          <a:xfrm>
            <a:off x="5852816" y="741078"/>
            <a:ext cx="155448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Range Control</a:t>
            </a:r>
            <a:br>
              <a:rPr lang="en-US" b="1" dirty="0">
                <a:latin typeface="Lotuss Smart HL" panose="02000000000000000000" pitchFamily="2" charset="-34"/>
                <a:cs typeface="Lotuss Smart HL" panose="02000000000000000000" pitchFamily="2" charset="-34"/>
              </a:rPr>
            </a:b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479F5A-1A3F-407F-A39D-DCD9C6087320}"/>
              </a:ext>
            </a:extLst>
          </p:cNvPr>
          <p:cNvSpPr txBox="1"/>
          <p:nvPr/>
        </p:nvSpPr>
        <p:spPr>
          <a:xfrm>
            <a:off x="7554914" y="741078"/>
            <a:ext cx="1554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Supply Chain</a:t>
            </a: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730F68-82D6-4A8E-8250-312109E22022}"/>
              </a:ext>
            </a:extLst>
          </p:cNvPr>
          <p:cNvSpPr txBox="1"/>
          <p:nvPr/>
        </p:nvSpPr>
        <p:spPr>
          <a:xfrm>
            <a:off x="9784853" y="754228"/>
            <a:ext cx="1554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Store Operation</a:t>
            </a: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0496C0-B931-4957-80DC-0207C3F0B5DB}"/>
              </a:ext>
            </a:extLst>
          </p:cNvPr>
          <p:cNvSpPr txBox="1"/>
          <p:nvPr/>
        </p:nvSpPr>
        <p:spPr>
          <a:xfrm>
            <a:off x="5998331" y="1623974"/>
            <a:ext cx="1371600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Open Access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65753D-FE91-4ADC-9DA2-337F90E81CCE}"/>
              </a:ext>
            </a:extLst>
          </p:cNvPr>
          <p:cNvSpPr txBox="1"/>
          <p:nvPr/>
        </p:nvSpPr>
        <p:spPr>
          <a:xfrm>
            <a:off x="5974593" y="2880941"/>
            <a:ext cx="1672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Event 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Event Description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POG Attribute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Pending </a:t>
            </a:r>
            <a:r>
              <a:rPr lang="en-US" sz="900" dirty="0" err="1">
                <a:latin typeface="Lotuss Smart HL" panose="02000000000000000000" pitchFamily="2" charset="-34"/>
                <a:cs typeface="Lotuss Smart HL" panose="02000000000000000000" pitchFamily="2" charset="-34"/>
              </a:rPr>
              <a:t>Date,Live</a:t>
            </a: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 Date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0C9A206-FCAC-44B1-84ED-C1EA92752417}"/>
              </a:ext>
            </a:extLst>
          </p:cNvPr>
          <p:cNvSpPr txBox="1"/>
          <p:nvPr/>
        </p:nvSpPr>
        <p:spPr>
          <a:xfrm>
            <a:off x="4301164" y="1512788"/>
            <a:ext cx="13716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sz="12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BY-JDA </a:t>
            </a:r>
          </a:p>
          <a:p>
            <a:r>
              <a:rPr lang="en-US" sz="12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Data Manager</a:t>
            </a:r>
          </a:p>
        </p:txBody>
      </p:sp>
      <p:sp>
        <p:nvSpPr>
          <p:cNvPr id="56" name="Flowchart: Alternate Process 55">
            <a:extLst>
              <a:ext uri="{FF2B5EF4-FFF2-40B4-BE49-F238E27FC236}">
                <a16:creationId xmlns:a16="http://schemas.microsoft.com/office/drawing/2014/main" id="{BFFCC5BE-DEE9-448A-9B46-8BF855C6A1FD}"/>
              </a:ext>
            </a:extLst>
          </p:cNvPr>
          <p:cNvSpPr/>
          <p:nvPr/>
        </p:nvSpPr>
        <p:spPr>
          <a:xfrm>
            <a:off x="10648248" y="2211125"/>
            <a:ext cx="1371600" cy="274320"/>
          </a:xfrm>
          <a:prstGeom prst="flowChartAlternateProcess">
            <a:avLst/>
          </a:prstGeom>
          <a:solidFill>
            <a:srgbClr val="8497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Receive Order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C45077-B545-4D01-BA52-179C669AB3D3}"/>
              </a:ext>
            </a:extLst>
          </p:cNvPr>
          <p:cNvSpPr txBox="1"/>
          <p:nvPr/>
        </p:nvSpPr>
        <p:spPr>
          <a:xfrm>
            <a:off x="7623212" y="1766998"/>
            <a:ext cx="1371600" cy="3077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ORWMS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73F6D2-599D-45F1-8283-DE93DFA6D597}"/>
              </a:ext>
            </a:extLst>
          </p:cNvPr>
          <p:cNvSpPr txBox="1"/>
          <p:nvPr/>
        </p:nvSpPr>
        <p:spPr>
          <a:xfrm>
            <a:off x="7554914" y="1059233"/>
            <a:ext cx="1904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Distribution Center</a:t>
            </a: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59" name="Flowchart: Multidocument 58">
            <a:extLst>
              <a:ext uri="{FF2B5EF4-FFF2-40B4-BE49-F238E27FC236}">
                <a16:creationId xmlns:a16="http://schemas.microsoft.com/office/drawing/2014/main" id="{9C78C956-E376-4EEA-9DB5-E318AF1ABBBB}"/>
              </a:ext>
            </a:extLst>
          </p:cNvPr>
          <p:cNvSpPr/>
          <p:nvPr/>
        </p:nvSpPr>
        <p:spPr>
          <a:xfrm>
            <a:off x="9915434" y="5036005"/>
            <a:ext cx="1371600" cy="598046"/>
          </a:xfrm>
          <a:prstGeom prst="flowChartMultidocumen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Week Live: Set up Schematic</a:t>
            </a:r>
          </a:p>
        </p:txBody>
      </p:sp>
      <p:sp>
        <p:nvSpPr>
          <p:cNvPr id="60" name="Flowchart: Alternate Process 59">
            <a:extLst>
              <a:ext uri="{FF2B5EF4-FFF2-40B4-BE49-F238E27FC236}">
                <a16:creationId xmlns:a16="http://schemas.microsoft.com/office/drawing/2014/main" id="{E6C41EAC-3B78-42B0-936D-589D1963B5BE}"/>
              </a:ext>
            </a:extLst>
          </p:cNvPr>
          <p:cNvSpPr/>
          <p:nvPr/>
        </p:nvSpPr>
        <p:spPr>
          <a:xfrm>
            <a:off x="7623212" y="3039931"/>
            <a:ext cx="1371600" cy="274320"/>
          </a:xfrm>
          <a:prstGeom prst="flowChartAlternate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DC Receiving</a:t>
            </a:r>
          </a:p>
        </p:txBody>
      </p: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23EBAC23-5410-47DF-9F3F-D4FA0B5F9E1D}"/>
              </a:ext>
            </a:extLst>
          </p:cNvPr>
          <p:cNvSpPr/>
          <p:nvPr/>
        </p:nvSpPr>
        <p:spPr>
          <a:xfrm>
            <a:off x="10677325" y="6064387"/>
            <a:ext cx="1371600" cy="369511"/>
          </a:xfrm>
          <a:prstGeom prst="flowChartProcess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Sales  </a:t>
            </a:r>
          </a:p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online/off line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2D22F9F-148D-401F-90DF-E7936B36F5B0}"/>
              </a:ext>
            </a:extLst>
          </p:cNvPr>
          <p:cNvCxnSpPr>
            <a:cxnSpLocks/>
            <a:stCxn id="10" idx="2"/>
            <a:endCxn id="60" idx="0"/>
          </p:cNvCxnSpPr>
          <p:nvPr/>
        </p:nvCxnSpPr>
        <p:spPr>
          <a:xfrm>
            <a:off x="8309012" y="2473335"/>
            <a:ext cx="0" cy="566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AF0CECAB-1ACA-4307-8825-A30CE17FA65B}"/>
              </a:ext>
            </a:extLst>
          </p:cNvPr>
          <p:cNvCxnSpPr>
            <a:cxnSpLocks/>
            <a:stCxn id="80" idx="3"/>
            <a:endCxn id="56" idx="1"/>
          </p:cNvCxnSpPr>
          <p:nvPr/>
        </p:nvCxnSpPr>
        <p:spPr>
          <a:xfrm flipV="1">
            <a:off x="8994812" y="2348285"/>
            <a:ext cx="1653436" cy="15912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1EC6DE2F-808B-4440-927D-9016F3EC242C}"/>
              </a:ext>
            </a:extLst>
          </p:cNvPr>
          <p:cNvGraphicFramePr>
            <a:graphicFrameLocks noGrp="1"/>
          </p:cNvGraphicFramePr>
          <p:nvPr/>
        </p:nvGraphicFramePr>
        <p:xfrm>
          <a:off x="42604" y="803554"/>
          <a:ext cx="640080" cy="64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56007108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PIC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60290"/>
                  </a:ext>
                </a:extLst>
              </a:tr>
            </a:tbl>
          </a:graphicData>
        </a:graphic>
      </p:graphicFrame>
      <p:sp>
        <p:nvSpPr>
          <p:cNvPr id="106" name="TextBox 105">
            <a:extLst>
              <a:ext uri="{FF2B5EF4-FFF2-40B4-BE49-F238E27FC236}">
                <a16:creationId xmlns:a16="http://schemas.microsoft.com/office/drawing/2014/main" id="{E9AA5707-CA7D-454D-8832-083FCB1C3939}"/>
              </a:ext>
            </a:extLst>
          </p:cNvPr>
          <p:cNvSpPr txBox="1"/>
          <p:nvPr/>
        </p:nvSpPr>
        <p:spPr>
          <a:xfrm>
            <a:off x="10648951" y="1511939"/>
            <a:ext cx="1371600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R10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43B286-6C3D-43F1-81A3-D4722EB1960D}"/>
              </a:ext>
            </a:extLst>
          </p:cNvPr>
          <p:cNvSpPr txBox="1"/>
          <p:nvPr/>
        </p:nvSpPr>
        <p:spPr>
          <a:xfrm>
            <a:off x="5661079" y="4568888"/>
            <a:ext cx="267920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Item/Store/Shelf capacity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Equipment (Fixture)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Inventory rules (day supply ,case multiplies)</a:t>
            </a:r>
          </a:p>
          <a:p>
            <a:pPr marL="344488" lvl="1" indent="-173038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KPI Level Run Down Case (LRD Case)</a:t>
            </a:r>
          </a:p>
          <a:p>
            <a:pPr marL="344488" lvl="1" indent="-173038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KPI Level Run Down Sales (LRD Sales)</a:t>
            </a:r>
          </a:p>
        </p:txBody>
      </p:sp>
      <p:sp>
        <p:nvSpPr>
          <p:cNvPr id="52" name="Flowchart: Magnetic Disk 51">
            <a:extLst>
              <a:ext uri="{FF2B5EF4-FFF2-40B4-BE49-F238E27FC236}">
                <a16:creationId xmlns:a16="http://schemas.microsoft.com/office/drawing/2014/main" id="{57CAC3AF-2722-4401-B9F8-A707EE56968C}"/>
              </a:ext>
            </a:extLst>
          </p:cNvPr>
          <p:cNvSpPr/>
          <p:nvPr/>
        </p:nvSpPr>
        <p:spPr>
          <a:xfrm>
            <a:off x="714303" y="3069861"/>
            <a:ext cx="1371600" cy="640080"/>
          </a:xfrm>
          <a:prstGeom prst="flowChartMagneticDisk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IT - Azure 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Product - Sales - Store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13810102-49B1-48B2-B1C6-2E673297B76D}"/>
              </a:ext>
            </a:extLst>
          </p:cNvPr>
          <p:cNvCxnSpPr>
            <a:cxnSpLocks/>
            <a:stCxn id="4" idx="3"/>
            <a:endCxn id="52" idx="1"/>
          </p:cNvCxnSpPr>
          <p:nvPr/>
        </p:nvCxnSpPr>
        <p:spPr>
          <a:xfrm rot="5400000">
            <a:off x="1288622" y="2953516"/>
            <a:ext cx="227826" cy="48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lowchart: Multidocument 70">
            <a:extLst>
              <a:ext uri="{FF2B5EF4-FFF2-40B4-BE49-F238E27FC236}">
                <a16:creationId xmlns:a16="http://schemas.microsoft.com/office/drawing/2014/main" id="{8BAB49C9-AB9D-4D63-AE65-068F6BC71DE9}"/>
              </a:ext>
            </a:extLst>
          </p:cNvPr>
          <p:cNvSpPr/>
          <p:nvPr/>
        </p:nvSpPr>
        <p:spPr>
          <a:xfrm>
            <a:off x="2389403" y="5866332"/>
            <a:ext cx="1371600" cy="751890"/>
          </a:xfrm>
          <a:prstGeom prst="flowChartMultidocumen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Power BI Dashboard</a:t>
            </a:r>
          </a:p>
        </p:txBody>
      </p:sp>
      <p:sp>
        <p:nvSpPr>
          <p:cNvPr id="78" name="Flowchart: Multidocument 77">
            <a:extLst>
              <a:ext uri="{FF2B5EF4-FFF2-40B4-BE49-F238E27FC236}">
                <a16:creationId xmlns:a16="http://schemas.microsoft.com/office/drawing/2014/main" id="{83A2373E-6C15-4A90-832E-8B40DF0CC52F}"/>
              </a:ext>
            </a:extLst>
          </p:cNvPr>
          <p:cNvSpPr/>
          <p:nvPr/>
        </p:nvSpPr>
        <p:spPr>
          <a:xfrm>
            <a:off x="6060621" y="5351753"/>
            <a:ext cx="1371600" cy="731520"/>
          </a:xfrm>
          <a:prstGeom prst="flowChartMultidocumen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JDA  </a:t>
            </a:r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Report / Table / Highlight / Label</a:t>
            </a:r>
          </a:p>
        </p:txBody>
      </p: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26BC4808-DC18-4519-BDA7-1649CA7C6633}"/>
              </a:ext>
            </a:extLst>
          </p:cNvPr>
          <p:cNvCxnSpPr>
            <a:cxnSpLocks/>
            <a:stCxn id="52" idx="4"/>
            <a:endCxn id="168" idx="2"/>
          </p:cNvCxnSpPr>
          <p:nvPr/>
        </p:nvCxnSpPr>
        <p:spPr>
          <a:xfrm flipV="1">
            <a:off x="2085903" y="3059602"/>
            <a:ext cx="300395" cy="3302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3DF8BA6-41C4-4333-ADD3-1A6D5B45AA22}"/>
              </a:ext>
            </a:extLst>
          </p:cNvPr>
          <p:cNvSpPr txBox="1"/>
          <p:nvPr/>
        </p:nvSpPr>
        <p:spPr>
          <a:xfrm>
            <a:off x="10568495" y="2546763"/>
            <a:ext cx="156018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If product not on POG</a:t>
            </a:r>
          </a:p>
          <a:p>
            <a:pPr marL="227013" lvl="1" indent="-109538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Sales </a:t>
            </a:r>
            <a:r>
              <a:rPr lang="th-TH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ได้ด้วยราคา </a:t>
            </a: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EDLP</a:t>
            </a:r>
          </a:p>
          <a:p>
            <a:pPr marL="227013" lvl="1" indent="-109538">
              <a:buFont typeface="Arial" panose="020B0604020202020204" pitchFamily="34" charset="0"/>
              <a:buChar char="•"/>
            </a:pPr>
            <a:r>
              <a:rPr lang="th-TH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ปรับราคาไม่ได้</a:t>
            </a:r>
          </a:p>
          <a:p>
            <a:pPr marL="227013" lvl="1" indent="-109538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SC </a:t>
            </a:r>
            <a:r>
              <a:rPr lang="th-TH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เปิด </a:t>
            </a: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PO </a:t>
            </a:r>
            <a:r>
              <a:rPr lang="th-TH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แล้วจะส่งสินค้าไม่ได้ (</a:t>
            </a: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no location</a:t>
            </a:r>
            <a:r>
              <a:rPr lang="th-TH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)</a:t>
            </a:r>
            <a:endParaRPr lang="en-US" sz="900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64" name="Flowchart: Magnetic Disk 63">
            <a:extLst>
              <a:ext uri="{FF2B5EF4-FFF2-40B4-BE49-F238E27FC236}">
                <a16:creationId xmlns:a16="http://schemas.microsoft.com/office/drawing/2014/main" id="{A5F6BC84-7BB5-4A78-9E46-FCA556AF7616}"/>
              </a:ext>
            </a:extLst>
          </p:cNvPr>
          <p:cNvSpPr/>
          <p:nvPr/>
        </p:nvSpPr>
        <p:spPr>
          <a:xfrm>
            <a:off x="2375078" y="4927128"/>
            <a:ext cx="1371600" cy="618186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AI Assortment Optimization Tools (</a:t>
            </a:r>
            <a:r>
              <a:rPr lang="en-US" sz="900" dirty="0" err="1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Mckinsey</a:t>
            </a:r>
            <a:r>
              <a:rPr lang="en-US" sz="9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)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9A4B59-E7F2-40BE-994A-7C010D4CAA50}"/>
              </a:ext>
            </a:extLst>
          </p:cNvPr>
          <p:cNvSpPr txBox="1"/>
          <p:nvPr/>
        </p:nvSpPr>
        <p:spPr>
          <a:xfrm>
            <a:off x="2290601" y="762535"/>
            <a:ext cx="1404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r>
              <a:rPr lang="en-US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Merchandiser</a:t>
            </a:r>
          </a:p>
        </p:txBody>
      </p:sp>
      <p:sp>
        <p:nvSpPr>
          <p:cNvPr id="67" name="Flowchart: Magnetic Disk 66">
            <a:extLst>
              <a:ext uri="{FF2B5EF4-FFF2-40B4-BE49-F238E27FC236}">
                <a16:creationId xmlns:a16="http://schemas.microsoft.com/office/drawing/2014/main" id="{D24DC103-6CCE-4EE0-A23C-CE4FDD6F4809}"/>
              </a:ext>
            </a:extLst>
          </p:cNvPr>
          <p:cNvSpPr/>
          <p:nvPr/>
        </p:nvSpPr>
        <p:spPr>
          <a:xfrm>
            <a:off x="4301164" y="5832007"/>
            <a:ext cx="1371600" cy="640080"/>
          </a:xfrm>
          <a:prstGeom prst="flowChartMagneticDisk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Fixture Ordering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(Property)</a:t>
            </a:r>
          </a:p>
        </p:txBody>
      </p:sp>
      <p:sp>
        <p:nvSpPr>
          <p:cNvPr id="82" name="Flowchart: Magnetic Disk 81">
            <a:extLst>
              <a:ext uri="{FF2B5EF4-FFF2-40B4-BE49-F238E27FC236}">
                <a16:creationId xmlns:a16="http://schemas.microsoft.com/office/drawing/2014/main" id="{39EDE420-7CB7-4CF4-91BE-3E02D91F137A}"/>
              </a:ext>
            </a:extLst>
          </p:cNvPr>
          <p:cNvSpPr/>
          <p:nvPr/>
        </p:nvSpPr>
        <p:spPr>
          <a:xfrm>
            <a:off x="4301164" y="4829988"/>
            <a:ext cx="1371600" cy="640080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Product – Store - Shelf capacity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New / Delete</a:t>
            </a:r>
          </a:p>
        </p:txBody>
      </p:sp>
      <p:sp>
        <p:nvSpPr>
          <p:cNvPr id="51" name="Wave 50">
            <a:extLst>
              <a:ext uri="{FF2B5EF4-FFF2-40B4-BE49-F238E27FC236}">
                <a16:creationId xmlns:a16="http://schemas.microsoft.com/office/drawing/2014/main" id="{1327561F-A1F2-4249-AD0B-2B73E809418D}"/>
              </a:ext>
            </a:extLst>
          </p:cNvPr>
          <p:cNvSpPr/>
          <p:nvPr/>
        </p:nvSpPr>
        <p:spPr>
          <a:xfrm>
            <a:off x="2386298" y="3425322"/>
            <a:ext cx="1371600" cy="1213436"/>
          </a:xfrm>
          <a:prstGeom prst="wav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Range Sheet (Macro, Excel)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User can add new range , edit /delete/retain Range </a:t>
            </a:r>
          </a:p>
        </p:txBody>
      </p: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9CB237BD-A86F-4103-BB8B-ADC2D798C919}"/>
              </a:ext>
            </a:extLst>
          </p:cNvPr>
          <p:cNvCxnSpPr>
            <a:cxnSpLocks/>
            <a:stCxn id="82" idx="4"/>
            <a:endCxn id="10" idx="1"/>
          </p:cNvCxnSpPr>
          <p:nvPr/>
        </p:nvCxnSpPr>
        <p:spPr>
          <a:xfrm flipV="1">
            <a:off x="5672764" y="2336175"/>
            <a:ext cx="1950448" cy="2813853"/>
          </a:xfrm>
          <a:prstGeom prst="bentConnector3">
            <a:avLst>
              <a:gd name="adj1" fmla="val 9127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52EB0DCF-5EBF-4C1B-99D2-0EB3AFF3F367}"/>
              </a:ext>
            </a:extLst>
          </p:cNvPr>
          <p:cNvCxnSpPr>
            <a:cxnSpLocks/>
            <a:stCxn id="82" idx="4"/>
            <a:endCxn id="224" idx="1"/>
          </p:cNvCxnSpPr>
          <p:nvPr/>
        </p:nvCxnSpPr>
        <p:spPr>
          <a:xfrm flipV="1">
            <a:off x="5672764" y="4440202"/>
            <a:ext cx="3546600" cy="709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0F6E83BA-63CB-4872-880A-8F202DD93894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4986964" y="3377384"/>
            <a:ext cx="0" cy="146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Flowchart: Magnetic Disk 167">
            <a:extLst>
              <a:ext uri="{FF2B5EF4-FFF2-40B4-BE49-F238E27FC236}">
                <a16:creationId xmlns:a16="http://schemas.microsoft.com/office/drawing/2014/main" id="{5578C738-B123-4FB0-A5F7-15873AED041C}"/>
              </a:ext>
            </a:extLst>
          </p:cNvPr>
          <p:cNvSpPr/>
          <p:nvPr/>
        </p:nvSpPr>
        <p:spPr>
          <a:xfrm>
            <a:off x="2386298" y="2739562"/>
            <a:ext cx="1371600" cy="640080"/>
          </a:xfrm>
          <a:prstGeom prst="flowChartMagneticDisk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Daily Sales-Product-Store</a:t>
            </a:r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3B78E106-339A-4377-B179-A51294D946A1}"/>
              </a:ext>
            </a:extLst>
          </p:cNvPr>
          <p:cNvCxnSpPr>
            <a:cxnSpLocks/>
            <a:stCxn id="52" idx="3"/>
            <a:endCxn id="71" idx="1"/>
          </p:cNvCxnSpPr>
          <p:nvPr/>
        </p:nvCxnSpPr>
        <p:spPr>
          <a:xfrm rot="16200000" flipH="1">
            <a:off x="628585" y="4481459"/>
            <a:ext cx="2532336" cy="98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: Elbow 190">
            <a:extLst>
              <a:ext uri="{FF2B5EF4-FFF2-40B4-BE49-F238E27FC236}">
                <a16:creationId xmlns:a16="http://schemas.microsoft.com/office/drawing/2014/main" id="{3F900ABA-BC0D-4B42-8250-73FC1AB94EA2}"/>
              </a:ext>
            </a:extLst>
          </p:cNvPr>
          <p:cNvCxnSpPr>
            <a:stCxn id="168" idx="4"/>
            <a:endCxn id="7" idx="2"/>
          </p:cNvCxnSpPr>
          <p:nvPr/>
        </p:nvCxnSpPr>
        <p:spPr>
          <a:xfrm flipV="1">
            <a:off x="3757898" y="3057344"/>
            <a:ext cx="543266" cy="22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AAAB46FA-3681-4502-AD38-64831C1216EC}"/>
              </a:ext>
            </a:extLst>
          </p:cNvPr>
          <p:cNvCxnSpPr>
            <a:cxnSpLocks/>
            <a:stCxn id="8" idx="3"/>
            <a:endCxn id="82" idx="1"/>
          </p:cNvCxnSpPr>
          <p:nvPr/>
        </p:nvCxnSpPr>
        <p:spPr>
          <a:xfrm>
            <a:off x="4986964" y="4633206"/>
            <a:ext cx="0" cy="196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: Elbow 203">
            <a:extLst>
              <a:ext uri="{FF2B5EF4-FFF2-40B4-BE49-F238E27FC236}">
                <a16:creationId xmlns:a16="http://schemas.microsoft.com/office/drawing/2014/main" id="{6DA982D9-73E5-423D-BDE9-547E513F9949}"/>
              </a:ext>
            </a:extLst>
          </p:cNvPr>
          <p:cNvCxnSpPr>
            <a:cxnSpLocks/>
            <a:stCxn id="82" idx="3"/>
            <a:endCxn id="78" idx="1"/>
          </p:cNvCxnSpPr>
          <p:nvPr/>
        </p:nvCxnSpPr>
        <p:spPr>
          <a:xfrm rot="16200000" flipH="1">
            <a:off x="5400070" y="5056961"/>
            <a:ext cx="247445" cy="10736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CFC70238-1955-4D4F-B47B-A6D5B83A6597}"/>
              </a:ext>
            </a:extLst>
          </p:cNvPr>
          <p:cNvCxnSpPr>
            <a:cxnSpLocks/>
            <a:stCxn id="59" idx="3"/>
            <a:endCxn id="61" idx="0"/>
          </p:cNvCxnSpPr>
          <p:nvPr/>
        </p:nvCxnSpPr>
        <p:spPr>
          <a:xfrm>
            <a:off x="11287034" y="5335028"/>
            <a:ext cx="76091" cy="7293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Wave 223">
            <a:extLst>
              <a:ext uri="{FF2B5EF4-FFF2-40B4-BE49-F238E27FC236}">
                <a16:creationId xmlns:a16="http://schemas.microsoft.com/office/drawing/2014/main" id="{9F1FE4A5-783B-4BBB-9948-7A1F921FCE22}"/>
              </a:ext>
            </a:extLst>
          </p:cNvPr>
          <p:cNvSpPr/>
          <p:nvPr/>
        </p:nvSpPr>
        <p:spPr>
          <a:xfrm>
            <a:off x="9219364" y="4072009"/>
            <a:ext cx="1361284" cy="736386"/>
          </a:xfrm>
          <a:prstGeom prst="wav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Web Publisher</a:t>
            </a:r>
          </a:p>
        </p:txBody>
      </p: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9C107522-6BFE-433D-A88A-B49A4A4BF44C}"/>
              </a:ext>
            </a:extLst>
          </p:cNvPr>
          <p:cNvCxnSpPr>
            <a:cxnSpLocks/>
            <a:stCxn id="51" idx="3"/>
            <a:endCxn id="5" idx="2"/>
          </p:cNvCxnSpPr>
          <p:nvPr/>
        </p:nvCxnSpPr>
        <p:spPr>
          <a:xfrm flipV="1">
            <a:off x="3757898" y="3819532"/>
            <a:ext cx="543266" cy="212508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: Elbow 258">
            <a:extLst>
              <a:ext uri="{FF2B5EF4-FFF2-40B4-BE49-F238E27FC236}">
                <a16:creationId xmlns:a16="http://schemas.microsoft.com/office/drawing/2014/main" id="{DC8AD01C-D2A2-433F-B3FD-BD8855030CDC}"/>
              </a:ext>
            </a:extLst>
          </p:cNvPr>
          <p:cNvCxnSpPr>
            <a:cxnSpLocks/>
            <a:stCxn id="67" idx="4"/>
            <a:endCxn id="59" idx="2"/>
          </p:cNvCxnSpPr>
          <p:nvPr/>
        </p:nvCxnSpPr>
        <p:spPr>
          <a:xfrm flipV="1">
            <a:off x="5672764" y="5611403"/>
            <a:ext cx="4833093" cy="5406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4CD8A98-FFD9-4B67-BDAC-54128AE125BD}"/>
              </a:ext>
            </a:extLst>
          </p:cNvPr>
          <p:cNvSpPr/>
          <p:nvPr/>
        </p:nvSpPr>
        <p:spPr>
          <a:xfrm>
            <a:off x="2138993" y="3437950"/>
            <a:ext cx="1855947" cy="214001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D134D2-C45D-4625-A630-9337A7DEF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6586" y="3523443"/>
            <a:ext cx="3135330" cy="2087960"/>
          </a:xfrm>
          <a:prstGeom prst="rect">
            <a:avLst/>
          </a:prstGeom>
        </p:spPr>
      </p:pic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EA7E99A9-A024-40C6-B47E-2F2CB8EB1336}"/>
              </a:ext>
            </a:extLst>
          </p:cNvPr>
          <p:cNvGraphicFramePr>
            <a:graphicFrameLocks noGrp="1"/>
          </p:cNvGraphicFramePr>
          <p:nvPr/>
        </p:nvGraphicFramePr>
        <p:xfrm>
          <a:off x="32828" y="1477990"/>
          <a:ext cx="640080" cy="64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56007108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System</a:t>
                      </a:r>
                    </a:p>
                    <a:p>
                      <a:pPr algn="ctr"/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Tools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60290"/>
                  </a:ext>
                </a:extLst>
              </a:tr>
            </a:tbl>
          </a:graphicData>
        </a:graphic>
      </p:graphicFrame>
      <p:sp>
        <p:nvSpPr>
          <p:cNvPr id="80" name="Flowchart: Alternate Process 79">
            <a:extLst>
              <a:ext uri="{FF2B5EF4-FFF2-40B4-BE49-F238E27FC236}">
                <a16:creationId xmlns:a16="http://schemas.microsoft.com/office/drawing/2014/main" id="{934A221E-5D6D-4E2A-90DD-E0E2FEE2B3A7}"/>
              </a:ext>
            </a:extLst>
          </p:cNvPr>
          <p:cNvSpPr/>
          <p:nvPr/>
        </p:nvSpPr>
        <p:spPr>
          <a:xfrm>
            <a:off x="7623212" y="3802388"/>
            <a:ext cx="1371600" cy="274320"/>
          </a:xfrm>
          <a:prstGeom prst="flowChartAlternate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Delivery to Store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589F386-A9BE-4AB4-9397-BA34D68296D9}"/>
              </a:ext>
            </a:extLst>
          </p:cNvPr>
          <p:cNvCxnSpPr>
            <a:cxnSpLocks/>
            <a:stCxn id="60" idx="2"/>
            <a:endCxn id="80" idx="0"/>
          </p:cNvCxnSpPr>
          <p:nvPr/>
        </p:nvCxnSpPr>
        <p:spPr>
          <a:xfrm>
            <a:off x="8309012" y="3314251"/>
            <a:ext cx="0" cy="488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227369F5-6E28-4899-95CA-3B4B085B0B32}"/>
              </a:ext>
            </a:extLst>
          </p:cNvPr>
          <p:cNvSpPr/>
          <p:nvPr/>
        </p:nvSpPr>
        <p:spPr>
          <a:xfrm>
            <a:off x="4301164" y="3523442"/>
            <a:ext cx="1371600" cy="592179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Space planning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Planogram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DC4F8685-2D1A-4853-8502-502FEB545F69}"/>
              </a:ext>
            </a:extLst>
          </p:cNvPr>
          <p:cNvCxnSpPr>
            <a:cxnSpLocks/>
            <a:stCxn id="56" idx="2"/>
            <a:endCxn id="61" idx="0"/>
          </p:cNvCxnSpPr>
          <p:nvPr/>
        </p:nvCxnSpPr>
        <p:spPr>
          <a:xfrm>
            <a:off x="11334048" y="2485445"/>
            <a:ext cx="29077" cy="3578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7A267955-B901-43A7-811A-2114E39561E8}"/>
              </a:ext>
            </a:extLst>
          </p:cNvPr>
          <p:cNvCxnSpPr>
            <a:cxnSpLocks/>
            <a:stCxn id="224" idx="3"/>
            <a:endCxn id="59" idx="0"/>
          </p:cNvCxnSpPr>
          <p:nvPr/>
        </p:nvCxnSpPr>
        <p:spPr>
          <a:xfrm>
            <a:off x="10580648" y="4440202"/>
            <a:ext cx="114947" cy="5958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44C0F578-539E-4888-92D3-1CDA699E181E}"/>
              </a:ext>
            </a:extLst>
          </p:cNvPr>
          <p:cNvCxnSpPr>
            <a:cxnSpLocks/>
            <a:stCxn id="61" idx="2"/>
            <a:endCxn id="52" idx="2"/>
          </p:cNvCxnSpPr>
          <p:nvPr/>
        </p:nvCxnSpPr>
        <p:spPr>
          <a:xfrm rot="5400000" flipH="1">
            <a:off x="4516715" y="-412511"/>
            <a:ext cx="3043997" cy="10648822"/>
          </a:xfrm>
          <a:prstGeom prst="bentConnector4">
            <a:avLst>
              <a:gd name="adj1" fmla="val -7510"/>
              <a:gd name="adj2" fmla="val 1021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88CEB65B-7B38-4026-A309-933DC543D924}"/>
              </a:ext>
            </a:extLst>
          </p:cNvPr>
          <p:cNvCxnSpPr>
            <a:cxnSpLocks/>
            <a:stCxn id="64" idx="1"/>
            <a:endCxn id="51" idx="2"/>
          </p:cNvCxnSpPr>
          <p:nvPr/>
        </p:nvCxnSpPr>
        <p:spPr>
          <a:xfrm flipV="1">
            <a:off x="3060878" y="4487079"/>
            <a:ext cx="11220" cy="440049"/>
          </a:xfrm>
          <a:prstGeom prst="straightConnector1">
            <a:avLst/>
          </a:prstGeom>
          <a:ln w="3175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: Elbow 176">
            <a:extLst>
              <a:ext uri="{FF2B5EF4-FFF2-40B4-BE49-F238E27FC236}">
                <a16:creationId xmlns:a16="http://schemas.microsoft.com/office/drawing/2014/main" id="{258A2523-989D-4E2A-9FD3-5A48F56FBCCF}"/>
              </a:ext>
            </a:extLst>
          </p:cNvPr>
          <p:cNvCxnSpPr>
            <a:cxnSpLocks/>
            <a:stCxn id="8" idx="2"/>
            <a:endCxn id="67" idx="2"/>
          </p:cNvCxnSpPr>
          <p:nvPr/>
        </p:nvCxnSpPr>
        <p:spPr>
          <a:xfrm rot="10800000" flipV="1">
            <a:off x="4301164" y="4313165"/>
            <a:ext cx="12700" cy="183888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510DCD16-0BB5-4AC8-A2A5-8BFC3ACA1F35}"/>
              </a:ext>
            </a:extLst>
          </p:cNvPr>
          <p:cNvSpPr txBox="1"/>
          <p:nvPr/>
        </p:nvSpPr>
        <p:spPr>
          <a:xfrm>
            <a:off x="2375078" y="1415919"/>
            <a:ext cx="1371600" cy="310896"/>
          </a:xfrm>
          <a:prstGeom prst="rect">
            <a:avLst/>
          </a:prstGeom>
          <a:solidFill>
            <a:srgbClr val="70AD4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AI Assortment Optimization Tools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8E035F9-67E0-445A-94AC-CC6AF020E761}"/>
              </a:ext>
            </a:extLst>
          </p:cNvPr>
          <p:cNvSpPr txBox="1"/>
          <p:nvPr/>
        </p:nvSpPr>
        <p:spPr>
          <a:xfrm>
            <a:off x="2365146" y="1770703"/>
            <a:ext cx="1371600" cy="2308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Range Sheet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A1668AF3-EFC6-4527-B85A-3D985244AB3D}"/>
              </a:ext>
            </a:extLst>
          </p:cNvPr>
          <p:cNvCxnSpPr>
            <a:cxnSpLocks/>
          </p:cNvCxnSpPr>
          <p:nvPr/>
        </p:nvCxnSpPr>
        <p:spPr>
          <a:xfrm rot="5400000" flipH="1">
            <a:off x="2935223" y="3514571"/>
            <a:ext cx="1427769" cy="2675712"/>
          </a:xfrm>
          <a:prstGeom prst="bentConnector4">
            <a:avLst>
              <a:gd name="adj1" fmla="val -10561"/>
              <a:gd name="adj2" fmla="val 1206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334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517DAD-212B-4816-823B-6EA31C363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560" y="0"/>
            <a:ext cx="6774511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63CE85B-9A53-48F5-885C-BC525CE8B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98" y="168955"/>
            <a:ext cx="3488662" cy="145334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Range Sheet: </a:t>
            </a:r>
            <a:r>
              <a:rPr lang="en-US" sz="3000" dirty="0">
                <a:solidFill>
                  <a:schemeClr val="accent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High level design</a:t>
            </a:r>
          </a:p>
        </p:txBody>
      </p:sp>
    </p:spTree>
    <p:extLst>
      <p:ext uri="{BB962C8B-B14F-4D97-AF65-F5344CB8AC3E}">
        <p14:creationId xmlns:p14="http://schemas.microsoft.com/office/powerpoint/2010/main" val="550387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7A98-4BFF-4499-A9B8-6637B98F3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474"/>
            <a:ext cx="11011894" cy="572924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0070C0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Range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6A462-C45B-4104-8CBD-F4AB1D94D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8B234F-BFB9-4398-8EEC-8B128833F8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30"/>
          <a:stretch/>
        </p:blipFill>
        <p:spPr>
          <a:xfrm>
            <a:off x="0" y="832207"/>
            <a:ext cx="12192000" cy="566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42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84CF-8FED-44A8-B213-83AB8ED52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9CA75-BB61-4F66-AF7D-C6F30519D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EF65DC2-4FDF-4F46-9734-1063B9225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36" y="197962"/>
            <a:ext cx="11278385" cy="629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342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C963-C7D7-4AC7-AD27-DD214309D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E5BB811-8FB2-4B12-83E5-CD1655704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604" y="126825"/>
            <a:ext cx="11739680" cy="6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628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C894-B161-4C97-907D-2157C1C77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2813643-1805-427B-9D12-8C7FC963B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284" y="204704"/>
            <a:ext cx="11490000" cy="641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27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4AB0-DE73-477C-A4EE-D4BF4205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B62A54-6B58-4644-B054-58F4395451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253" y="125513"/>
            <a:ext cx="11837494" cy="660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457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6273A-2896-442C-BABB-A8F969F9E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D904BA-47A7-4408-BD49-989F16F41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934" y="214091"/>
            <a:ext cx="11249486" cy="627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C194-E529-4247-9BEB-FC4E63530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15" y="-11615"/>
            <a:ext cx="10877502" cy="780707"/>
          </a:xfrm>
        </p:spPr>
        <p:txBody>
          <a:bodyPr>
            <a:noAutofit/>
          </a:bodyPr>
          <a:lstStyle/>
          <a:p>
            <a:r>
              <a:rPr lang="en-US" sz="32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AI Range sheet Intelligence :Internship Program Plan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EEA9F4B-AD88-4B9B-8A3A-3B877F6DE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610770"/>
              </p:ext>
            </p:extLst>
          </p:nvPr>
        </p:nvGraphicFramePr>
        <p:xfrm>
          <a:off x="277515" y="1172837"/>
          <a:ext cx="11636970" cy="504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697">
                  <a:extLst>
                    <a:ext uri="{9D8B030D-6E8A-4147-A177-3AD203B41FA5}">
                      <a16:colId xmlns:a16="http://schemas.microsoft.com/office/drawing/2014/main" val="832529449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577126314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029798695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769639505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69911365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4808029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321889397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3133871423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3822927493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695948111"/>
                    </a:ext>
                  </a:extLst>
                </a:gridCol>
              </a:tblGrid>
              <a:tr h="712446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Environment &amp; Tooling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.csv Data Ingestion &amp; UI Foundations</a:t>
                      </a:r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SKU Management Interface</a:t>
                      </a:r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Persistence &amp; Final Delivery</a:t>
                      </a:r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Phase 5</a:t>
                      </a:r>
                    </a:p>
                    <a:p>
                      <a:pPr algn="ctr"/>
                      <a:r>
                        <a:rPr lang="en-US" sz="14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Implement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186931"/>
                  </a:ext>
                </a:extLst>
              </a:tr>
              <a:tr h="33928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Intern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W1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1 – 5 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W2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8 - 12 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15 - 19 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W4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22 – 26 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W5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29 Jun – 3 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W6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6 – 10 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13 – 17 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W8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20 – 24 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Aug- Sep</a:t>
                      </a:r>
                      <a:b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</a:br>
                      <a:r>
                        <a:rPr lang="th-TH" sz="11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ชญากาณฑ์ </a:t>
                      </a:r>
                      <a:r>
                        <a:rPr lang="en-US" sz="11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2Days/W</a:t>
                      </a:r>
                      <a:endParaRPr lang="en-US" sz="11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868141"/>
                  </a:ext>
                </a:extLst>
              </a:tr>
              <a:tr h="1920240">
                <a:tc>
                  <a:txBody>
                    <a:bodyPr/>
                    <a:lstStyle/>
                    <a:p>
                      <a:r>
                        <a:rPr lang="th-TH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ชนิตสิรี ดัชถุยาวัตร์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(</a:t>
                      </a:r>
                      <a:r>
                        <a:rPr lang="th-TH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เมษา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ชญากาณฑ์ เฮงสุวรรณ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(</a:t>
                      </a:r>
                      <a:r>
                        <a:rPr lang="th-TH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ปุยฝ้าย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)</a:t>
                      </a:r>
                      <a:endParaRPr lang="en-US" sz="1000" b="1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  <a:p>
                      <a:endParaRPr lang="en-US" sz="1000" b="1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0" dirty="0">
                        <a:effectLst/>
                      </a:endParaRP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Establish the developer workflow and Git repository.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Lotuss Smart HL" panose="02000000000000000000" pitchFamily="2" charset="-34"/>
                        <a:ea typeface="+mn-ea"/>
                        <a:cs typeface="Lotuss Smart HL" panose="02000000000000000000" pitchFamily="2" charset="-34"/>
                      </a:endParaRP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Set up Python virtual environments (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venv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/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Conda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) and define code quality standards (Black/Flake8).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Lotuss Smart HL" panose="02000000000000000000" pitchFamily="2" charset="-34"/>
                        <a:ea typeface="+mn-ea"/>
                        <a:cs typeface="Lotuss Smart HL" panose="02000000000000000000" pitchFamily="2" charset="-34"/>
                      </a:endParaRPr>
                    </a:p>
                    <a:p>
                      <a:endParaRPr lang="en-US" sz="400" dirty="0">
                        <a:effectLst/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0" dirty="0">
                        <a:effectLst/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Develop ingestion scripts specifically for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.csv files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.</a:t>
                      </a: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Profile data from McKinsey AI, NBS, and Range Tail provided in CSV format to populate initial data frames using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Pandas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,.</a:t>
                      </a: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Build the core application layout in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Streamlit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0" dirty="0">
                        <a:effectLst/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Implement the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st.data_editor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grid for bulk editing and an "Excel-like" experience.</a:t>
                      </a: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Code the logic for AI recommendations: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Keep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,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Delete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(session removal),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New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(entry validation), and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Delist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(status change to Inactive),.</a:t>
                      </a:r>
                    </a:p>
                    <a:p>
                      <a:endParaRPr lang="en-US" sz="1000" dirty="0">
                        <a:effectLst/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endParaRPr lang="en-US" sz="1000" dirty="0">
                        <a:effectLst/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Finalize the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"Save" functionality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using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SQLAlchemy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to persist edits directly to the database.</a:t>
                      </a:r>
                    </a:p>
                    <a:p>
                      <a:pPr lvl="1"/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Note: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In line with updated requirements,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validation checks for race conditions or conflicts are omitted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for the save trigger.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Conduct with uses &amp; UAT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Implement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804183"/>
                  </a:ext>
                </a:extLst>
              </a:tr>
              <a:tr h="504626"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Updated Technical Requirements</a:t>
                      </a: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Lotuss Smart HL" panose="02000000000000000000" pitchFamily="2" charset="-34"/>
                        <a:ea typeface="+mn-ea"/>
                        <a:cs typeface="Lotuss Smart HL" panose="02000000000000000000" pitchFamily="2" charset="-34"/>
                      </a:endParaRPr>
                    </a:p>
                    <a:p>
                      <a:pPr lvl="0"/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Data Source: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</a:t>
                      </a:r>
                      <a:endParaRPr lang="en-US" sz="1000" b="1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All primary data inputs (McKinsey AI, NBS, Range Tail) will be handled via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.csv file imports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rather than live API/SQL connections.</a:t>
                      </a:r>
                    </a:p>
                    <a:p>
                      <a:pPr lvl="0"/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Save Trigger: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The "Save" action initiates a direct database transaction. No additional validation layer is required for this internship scope.</a:t>
                      </a:r>
                    </a:p>
                    <a:p>
                      <a:pPr lvl="0"/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Interface: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A high-performance grid supporting bulk edits with strict type-checking.</a:t>
                      </a:r>
                    </a:p>
                    <a:p>
                      <a:pPr lvl="0"/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Development Stack: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100% pure Python, leveraging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Streamlit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for the UI and Pandas for data manipulation,.</a:t>
                      </a:r>
                    </a:p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764139"/>
                  </a:ext>
                </a:extLst>
              </a:tr>
              <a:tr h="5046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Success Criteria</a:t>
                      </a:r>
                      <a:endParaRPr lang="en-US" sz="1000" dirty="0">
                        <a:effectLst/>
                        <a:latin typeface="Lotuss Smart HL" panose="02000000000000000000" pitchFamily="2" charset="-34"/>
                        <a:ea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The project will be evaluated on the delivery of a </a:t>
                      </a:r>
                      <a:r>
                        <a:rPr lang="en-US" sz="1000" b="1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fully functional </a:t>
                      </a:r>
                      <a:r>
                        <a:rPr lang="en-US" sz="1000" b="1" dirty="0" err="1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Streamlit</a:t>
                      </a:r>
                      <a:r>
                        <a:rPr lang="en-US" sz="1000" b="1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 web app</a:t>
                      </a:r>
                      <a:r>
                        <a:rPr lang="en-US" sz="1000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 capable of importing .csv data and demonstrating a </a:t>
                      </a:r>
                      <a:r>
                        <a:rPr lang="en-US" sz="1000" b="1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verified write-back</a:t>
                      </a:r>
                      <a:r>
                        <a:rPr lang="en-US" sz="1000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 to the database. This ensures a robust, persistent data architecture is established even within the simplified internship scope.</a:t>
                      </a:r>
                      <a:endParaRPr lang="en-US" sz="1000" dirty="0">
                        <a:effectLst/>
                        <a:latin typeface="Lotuss Smart HL" panose="02000000000000000000" pitchFamily="2" charset="-34"/>
                        <a:ea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72268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816DFD0-9CC4-44F3-9FB3-F64601C812FF}"/>
              </a:ext>
            </a:extLst>
          </p:cNvPr>
          <p:cNvSpPr txBox="1"/>
          <p:nvPr/>
        </p:nvSpPr>
        <p:spPr>
          <a:xfrm>
            <a:off x="135553" y="595975"/>
            <a:ext cx="11778932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The goal of this internship project is to replace manual, error-prone Excel processes with a scalable, automated </a:t>
            </a:r>
            <a:r>
              <a:rPr lang="en-US" sz="1000" b="1" dirty="0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Python and </a:t>
            </a:r>
            <a:r>
              <a:rPr lang="en-US" sz="1000" b="1" dirty="0" err="1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Streamlit</a:t>
            </a:r>
            <a:r>
              <a:rPr lang="en-US" sz="1000" dirty="0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 application. By utilizing a free, open-source stack, the project will streamline SKU management through a high-performance grid interface. This version of the project is optimized for rapid delivery, moving from static </a:t>
            </a:r>
            <a:r>
              <a:rPr lang="en-US" sz="1000" b="1" dirty="0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.csv data ingestion</a:t>
            </a:r>
            <a:r>
              <a:rPr lang="en-US" sz="1000" dirty="0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 directly to database persistence and final deployment.</a:t>
            </a:r>
            <a:endParaRPr lang="en-US" sz="1000" dirty="0">
              <a:effectLst/>
              <a:latin typeface="Lotuss Smart HL" panose="02000000000000000000" pitchFamily="2" charset="-34"/>
              <a:ea typeface="Lotuss Smart HL" panose="02000000000000000000" pitchFamily="2" charset="-34"/>
              <a:cs typeface="Lotuss Smart HL" panose="02000000000000000000" pitchFamily="2" charset="-34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446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5483270"/>
      </p:ext>
    </p:extLst>
  </p:cSld>
  <p:clrMapOvr>
    <a:masterClrMapping/>
  </p:clrMapOvr>
</p:sld>
</file>

<file path=ppt/theme/theme1.xml><?xml version="1.0" encoding="utf-8"?>
<a:theme xmlns:a="http://schemas.openxmlformats.org/drawingml/2006/main" name="CP AXTRA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P AXTRA_Presentation Format_2024_.pptx" id="{D226EB36-CA2E-4EE9-BA44-7AE101D9F3FC}" vid="{CA8BAD08-CE8B-46DA-ADC2-33B81BC933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1032</TotalTime>
  <Words>715</Words>
  <Application>Microsoft Office PowerPoint</Application>
  <PresentationFormat>Widescreen</PresentationFormat>
  <Paragraphs>121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DB Adman X Bold</vt:lpstr>
      <vt:lpstr>Lotuss Smart HL</vt:lpstr>
      <vt:lpstr>Prompt</vt:lpstr>
      <vt:lpstr>Prompt Medium</vt:lpstr>
      <vt:lpstr>CP AXTRA Theme</vt:lpstr>
      <vt:lpstr>Range Sheet Streamlit Architecture</vt:lpstr>
      <vt:lpstr>Induction : Space Range Display System Flow</vt:lpstr>
      <vt:lpstr>Range Sheet: High level design</vt:lpstr>
      <vt:lpstr>Range 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 Range sheet Intelligence :Internship Program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Range Sheet Streamlit Architechture SKU Optimization</dc:title>
  <dc:creator>Piyaporn Prayoonsri</dc:creator>
  <cp:lastModifiedBy>Piyaporn Prayoonsri</cp:lastModifiedBy>
  <cp:revision>9</cp:revision>
  <dcterms:created xsi:type="dcterms:W3CDTF">2026-05-20T04:46:22Z</dcterms:created>
  <dcterms:modified xsi:type="dcterms:W3CDTF">2026-06-02T07:55:21Z</dcterms:modified>
</cp:coreProperties>
</file>